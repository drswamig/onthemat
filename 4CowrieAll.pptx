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7" r:id="rId2"/>
    <p:sldId id="259" r:id="rId3"/>
    <p:sldId id="260" r:id="rId4"/>
    <p:sldId id="256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mi G" initials="SG" lastIdx="2" clrIdx="0">
    <p:extLst>
      <p:ext uri="{19B8F6BF-5375-455C-9EA6-DF929625EA0E}">
        <p15:presenceInfo xmlns="" xmlns:p15="http://schemas.microsoft.com/office/powerpoint/2012/main" userId="7ea8b287f20e18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975" autoAdjust="0"/>
    <p:restoredTop sz="94660"/>
  </p:normalViewPr>
  <p:slideViewPr>
    <p:cSldViewPr snapToGrid="0">
      <p:cViewPr varScale="1">
        <p:scale>
          <a:sx n="72" d="100"/>
          <a:sy n="72" d="100"/>
        </p:scale>
        <p:origin x="-3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16T01:29:55.972" idx="1">
    <p:pos x="6178" y="-502"/>
    <p:text/>
    <p:extLst>
      <p:ext uri="{C676402C-5697-4E1C-873F-D02D1690AC5C}">
        <p15:threadingInfo xmlns=""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16T01:29:55.972" idx="2">
    <p:pos x="6178" y="-502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AFFF85D-95C0-44C8-A571-8EFA651A43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Ilekes 2025     Four Cowrie Divination Zoom Session Agenda                               1/4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E1E8BA3-8049-40D5-B32A-602C40EB0D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C5325-F548-4629-934F-0884EA52B5DB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C1E7E9B-40EA-49AD-AF9C-197102077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FF1CC32-3BC2-4CCC-B299-98CD9A2F75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A2721-3032-481A-AB94-EA5A14823E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949239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Ilekes 2025     Four Cowrie Divination Zoom Session Agenda                               1/4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AB9D2-8E05-4CBB-8371-0B5A8BCC8422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C4BAA-DBF6-4F18-B078-9E691AEC8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1041810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20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Ilekes 2025     Four Cowrie Divination Zoom Session Agenda                               1/4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C3CB5A5-4531-4FF8-883E-7CACC2AB3DD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244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Ilekes 2025     Four Cowrie Divination Zoom Session Agenda                               1/4</a:t>
            </a: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D1B25E-5EEF-48FB-8A77-D3CAD39244E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268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Ilekes 2025     Four Cowrie Divination Zoom Session Agenda                               1/4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519722-CFA7-4CF1-9BDD-EC9363F713F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292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Ilekes 2025     Four Cowrie Divination Zoom Session Agenda                               1/4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139F78-56D2-4279-ADD7-3453B2DE338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FAEEBB-950A-47BE-BD1E-11EA5008C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3169FEB-9136-4ABF-A014-159116DCF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73CCAB7-75E0-475D-87AF-D8FE5D79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DABB722-568F-420F-8ED9-578B289E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F3E653-3096-4D3A-BE50-2C07DE2A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381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AD2738-0D7C-4153-9E21-97320D5B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D4995C-F94A-49BA-A2E1-EB6158F58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8940F73-D21F-4490-9056-3952D06B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5E88EFD-3C18-42F7-9314-9D06EE0A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891935-EDFE-45CE-B24C-B0058FD1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2019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A727FC-AD8E-4F25-809B-0D4B91CDB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81AC948-479C-426E-AD61-F47F0720B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A65BD2-D22D-4E09-B862-11B6097C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815404-96BE-42DE-A0BD-794F2883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CC910DF-109C-4FA1-BB64-2F9F9F2B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1880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4B095C-EE9D-4AA8-8CD8-9707D4501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AA5629-A468-4F2B-A1EF-1DAAE124D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B6681F3-18D0-4078-9969-13AE0B77F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8871CB3-B3EB-4F76-9F21-A9924BEA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EB2BEB0-34E6-4BEA-A17A-298B28F5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7355F5A-52A1-4E38-AF9E-F6E8F0C6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110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B68A6B-5900-4FC9-9374-EAAD3252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6A910A-E763-44C0-B16D-77DED7AFD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69EAB89-45B7-4928-B1C0-D06C18A6F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8CA9C4-C636-4643-8C3A-85DFEFB94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7879366-EF08-4E67-A9A3-AA3461A9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340AA83-E4E6-400E-AAED-4266952B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1C037E6-DB73-49ED-A4B1-96435DE0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2F8411B-12C6-4366-B14C-2B5B10C8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6439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49CD00-FC33-4122-9380-15034E74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63B6CE9-8698-4136-8A9A-CEF427BB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12F4DD5-6A2E-484F-972F-98347ACE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EAAAD20-1DF8-4938-8C8C-297B55B6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352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90BB2DA-5240-4CF5-AEF5-A5ABEF89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CC58186-E6D8-4E89-ACF8-188221BB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31E35C8-F8C0-4F62-8CA2-33FBF9F6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270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F00C68-3964-4E06-A1E4-B6843CCD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00566E-978A-48B7-B83D-C30401F38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6D2212D-B65B-4414-99F5-1C5CB67EB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85F18B8-3411-4E38-8094-002B0FED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ABD6AE4-4E7F-49C6-B2F1-F71E9807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980CFDD-04CE-4FAF-84DB-7A885CA1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7729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82AAB3-A633-4780-94CB-D9C424A1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92ADA83-3F4E-4B85-B035-47229760E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0733407-0BCC-46B6-87CA-C139143FB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8CF319-6722-4914-B7BC-A07447F9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7AE779D-8C69-4D93-B954-A679E429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7D99F7C-64D0-4346-A079-1953AA47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5197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C7ED85-DC5A-4BF6-83F9-FB153F87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772293A-EA4B-4BCE-AC01-326D7FE02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E3A853-2055-4262-AC43-3F56D190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18E67F-65AC-46E9-AAA0-BB5A1F012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BA7E840-89E9-426E-B328-06B5D8C4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4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93428D1-9062-4C42-9F9F-4E3E5B34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F067834-B39B-424A-B817-DA310D2F1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47A33C5-895B-4413-9F76-71CA1A46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BC4247-D573-4024-9591-1A3C6D76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280A25-992C-4DEB-8C2A-24AF6FF7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572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1000"/>
            <a:lum/>
          </a:blip>
          <a:srcRect/>
          <a:stretch>
            <a:fillRect t="9000" b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F4097FB-CC56-45C1-A789-CDDA2EC0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18F6234-3759-493C-9ED8-0A618F0EE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EC2F6E-D3E1-4335-AC1B-86788E463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6640DE4-C4B7-4316-BF05-564BBA413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SwamiG Institute                                                                           $DrSwamiG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C05CA6-3416-427D-B558-E2BC28D9F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E778B-00A5-4DA9-BEA1-BC866A646F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2085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9768449070?pwd=yYH4FZwxpTmacos1aa4VF87bJaNGaR.1&amp;omn=8410975875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9768449070?pwd=yYH4FZwxpTmacos1aa4VF87bJaNGaR.1&amp;omn=8410975875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9768449070?pwd=yYH4FZwxpTmacos1aa4VF87bJaNGaR.1&amp;omn=8410975875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9768449070?pwd=yYH4FZwxpTmacos1aa4VF87bJaNGaR.1&amp;omn=8410975875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2168A1-0E0A-4714-8516-2B6A2DCF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D63937-7DCA-41A8-8B6B-2F19FCF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41573" cy="365125"/>
          </a:xfrm>
        </p:spPr>
        <p:txBody>
          <a:bodyPr/>
          <a:lstStyle/>
          <a:p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7CBB8A-D4E6-4168-8A75-1F68178B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5B63B5-5900-46EB-9011-24A6E0F0CE19}"/>
              </a:ext>
            </a:extLst>
          </p:cNvPr>
          <p:cNvSpPr txBox="1"/>
          <p:nvPr/>
        </p:nvSpPr>
        <p:spPr>
          <a:xfrm>
            <a:off x="210065" y="0"/>
            <a:ext cx="117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Ilekes</a:t>
            </a:r>
            <a:r>
              <a:rPr lang="en-US" dirty="0"/>
              <a:t> 2025                                               Four Cowrie Divination Zoom Session Agenda                                              1/4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00682A-FF59-4876-A6CE-F29B3E464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90134"/>
            <a:ext cx="531341" cy="53134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="" xmlns:a16="http://schemas.microsoft.com/office/drawing/2014/main" id="{C06342D0-6F45-48E5-8672-C6BC61939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227" y="184666"/>
            <a:ext cx="8141973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Ilekes</a:t>
            </a:r>
            <a:r>
              <a:rPr kumimoji="0" lang="en-US" altLang="en-US" sz="1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2025 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="" xmlns:a16="http://schemas.microsoft.com/office/drawing/2014/main" id="{E37B045A-0072-4551-A5CD-2D260A825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94" y="2419871"/>
            <a:ext cx="11380038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Four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Cowrie Divination Session Agenda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All sessions @ 130pm-230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est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https://us06web.zoom.us/j/9768449070?pwd=yYH4FZwxpTmacos1aa4VF87bJaNGaR.1&amp;omn=84109758758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7540401-8E93-42C3-BE28-7F5C4E2BD493}"/>
              </a:ext>
            </a:extLst>
          </p:cNvPr>
          <p:cNvSpPr txBox="1"/>
          <p:nvPr/>
        </p:nvSpPr>
        <p:spPr>
          <a:xfrm>
            <a:off x="1840227" y="4097253"/>
            <a:ext cx="7123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Wed—Sat—Sun--Wed</a:t>
            </a:r>
          </a:p>
          <a:p>
            <a:r>
              <a:rPr lang="en-US" sz="5400" dirty="0"/>
              <a:t>    1         2          3         4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600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2168A1-0E0A-4714-8516-2B6A2DCF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D63937-7DCA-41A8-8B6B-2F19FCF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41573" cy="365125"/>
          </a:xfrm>
        </p:spPr>
        <p:txBody>
          <a:bodyPr/>
          <a:lstStyle/>
          <a:p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7CBB8A-D4E6-4168-8A75-1F68178B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5B63B5-5900-46EB-9011-24A6E0F0CE19}"/>
              </a:ext>
            </a:extLst>
          </p:cNvPr>
          <p:cNvSpPr txBox="1"/>
          <p:nvPr/>
        </p:nvSpPr>
        <p:spPr>
          <a:xfrm>
            <a:off x="210065" y="0"/>
            <a:ext cx="117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Ilekes</a:t>
            </a:r>
            <a:r>
              <a:rPr lang="en-US" dirty="0"/>
              <a:t> 2025                                               Four Cowrie Divination Zoom Session Agenda                                              1/4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00682A-FF59-4876-A6CE-F29B3E464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90134"/>
            <a:ext cx="531341" cy="5313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A48B034B-CAAE-405D-B6CB-1191080D9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7501662"/>
              </p:ext>
            </p:extLst>
          </p:nvPr>
        </p:nvGraphicFramePr>
        <p:xfrm>
          <a:off x="678425" y="766917"/>
          <a:ext cx="10545099" cy="5294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704">
                  <a:extLst>
                    <a:ext uri="{9D8B030D-6E8A-4147-A177-3AD203B41FA5}">
                      <a16:colId xmlns="" xmlns:a16="http://schemas.microsoft.com/office/drawing/2014/main" val="3943731574"/>
                    </a:ext>
                  </a:extLst>
                </a:gridCol>
                <a:gridCol w="737419">
                  <a:extLst>
                    <a:ext uri="{9D8B030D-6E8A-4147-A177-3AD203B41FA5}">
                      <a16:colId xmlns="" xmlns:a16="http://schemas.microsoft.com/office/drawing/2014/main" val="1447377901"/>
                    </a:ext>
                  </a:extLst>
                </a:gridCol>
                <a:gridCol w="988142">
                  <a:extLst>
                    <a:ext uri="{9D8B030D-6E8A-4147-A177-3AD203B41FA5}">
                      <a16:colId xmlns="" xmlns:a16="http://schemas.microsoft.com/office/drawing/2014/main" val="39339114"/>
                    </a:ext>
                  </a:extLst>
                </a:gridCol>
                <a:gridCol w="1082180">
                  <a:extLst>
                    <a:ext uri="{9D8B030D-6E8A-4147-A177-3AD203B41FA5}">
                      <a16:colId xmlns="" xmlns:a16="http://schemas.microsoft.com/office/drawing/2014/main" val="28082594"/>
                    </a:ext>
                  </a:extLst>
                </a:gridCol>
                <a:gridCol w="1459042">
                  <a:extLst>
                    <a:ext uri="{9D8B030D-6E8A-4147-A177-3AD203B41FA5}">
                      <a16:colId xmlns="" xmlns:a16="http://schemas.microsoft.com/office/drawing/2014/main" val="3440215611"/>
                    </a:ext>
                  </a:extLst>
                </a:gridCol>
                <a:gridCol w="1950204">
                  <a:extLst>
                    <a:ext uri="{9D8B030D-6E8A-4147-A177-3AD203B41FA5}">
                      <a16:colId xmlns="" xmlns:a16="http://schemas.microsoft.com/office/drawing/2014/main" val="432941522"/>
                    </a:ext>
                  </a:extLst>
                </a:gridCol>
                <a:gridCol w="2204342">
                  <a:extLst>
                    <a:ext uri="{9D8B030D-6E8A-4147-A177-3AD203B41FA5}">
                      <a16:colId xmlns="" xmlns:a16="http://schemas.microsoft.com/office/drawing/2014/main" val="3258389250"/>
                    </a:ext>
                  </a:extLst>
                </a:gridCol>
                <a:gridCol w="1696066">
                  <a:extLst>
                    <a:ext uri="{9D8B030D-6E8A-4147-A177-3AD203B41FA5}">
                      <a16:colId xmlns="" xmlns:a16="http://schemas.microsoft.com/office/drawing/2014/main" val="4101805439"/>
                    </a:ext>
                  </a:extLst>
                </a:gridCol>
              </a:tblGrid>
              <a:tr h="636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Date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Topic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Facing up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Meaning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How to re-phrase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2191401990"/>
                  </a:ext>
                </a:extLst>
              </a:tr>
              <a:tr h="5489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Wed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rowSpan="2"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16April         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  <a:effectLst/>
                        </a:rPr>
                        <a:t>Altar, Shrine</a:t>
                      </a:r>
                      <a:r>
                        <a:rPr lang="en-US" sz="2000" u="sng" dirty="0">
                          <a:effectLst/>
                        </a:rPr>
                        <a:t>,  Obi Orientation - 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                   </a:t>
                      </a:r>
                      <a:r>
                        <a:rPr lang="en-US" sz="2000" b="1" dirty="0">
                          <a:effectLst/>
                        </a:rPr>
                        <a:t>Alafia</a:t>
                      </a:r>
                      <a:r>
                        <a:rPr lang="en-US" sz="2000" dirty="0">
                          <a:effectLst/>
                        </a:rPr>
                        <a:t>,                       4 up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                    </a:t>
                      </a:r>
                      <a:r>
                        <a:rPr lang="en-US" sz="2000" b="1" dirty="0" err="1">
                          <a:effectLst/>
                        </a:rPr>
                        <a:t>Etawa</a:t>
                      </a:r>
                      <a:r>
                        <a:rPr lang="en-US" sz="2000" dirty="0">
                          <a:effectLst/>
                        </a:rPr>
                        <a:t>                       3 up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Yes</a:t>
                      </a:r>
                      <a:endParaRPr lang="en-US" sz="2000" b="1" i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Gratitude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1239542938"/>
                  </a:ext>
                </a:extLst>
              </a:tr>
              <a:tr h="6885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Probably</a:t>
                      </a:r>
                      <a:r>
                        <a:rPr lang="en-US" sz="2000" dirty="0">
                          <a:effectLst/>
                        </a:rPr>
                        <a:t>, re-phrase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????????????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3262905420"/>
                  </a:ext>
                </a:extLst>
              </a:tr>
              <a:tr h="893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Sat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19Apr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Questions- </a:t>
                      </a:r>
                      <a:r>
                        <a:rPr lang="en-US" sz="2000" b="1">
                          <a:effectLst/>
                        </a:rPr>
                        <a:t>Ejife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Questions- </a:t>
                      </a:r>
                      <a:r>
                        <a:rPr lang="en-US" sz="2000" b="1" dirty="0" err="1">
                          <a:effectLst/>
                        </a:rPr>
                        <a:t>Ejife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 up- the six </a:t>
                      </a:r>
                      <a:r>
                        <a:rPr lang="en-US" sz="2000" dirty="0" err="1">
                          <a:effectLst/>
                        </a:rPr>
                        <a:t>followup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Definitely</a:t>
                      </a:r>
                      <a:r>
                        <a:rPr lang="en-US" sz="2000" dirty="0">
                          <a:effectLst/>
                        </a:rPr>
                        <a:t> -Wisdom after lessons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????????????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3105437350"/>
                  </a:ext>
                </a:extLst>
              </a:tr>
              <a:tr h="893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Sun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20Apr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Offerings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Okana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Offerings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Okana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 up- the four </a:t>
                      </a:r>
                      <a:r>
                        <a:rPr lang="en-US" sz="2000" dirty="0" err="1">
                          <a:effectLst/>
                        </a:rPr>
                        <a:t>followup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Doubtful</a:t>
                      </a:r>
                      <a:r>
                        <a:rPr lang="en-US" sz="2000" dirty="0">
                          <a:effectLst/>
                        </a:rPr>
                        <a:t>, re-phrase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????????????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2203049651"/>
                  </a:ext>
                </a:extLst>
              </a:tr>
              <a:tr h="893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Wed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23Apr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Change Topic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Oyeku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Change Topic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Oyeku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No up- All Down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Nope</a:t>
                      </a:r>
                      <a:r>
                        <a:rPr lang="en-US" sz="2000" dirty="0">
                          <a:effectLst/>
                        </a:rPr>
                        <a:t> - very challenging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Acceptance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500513346"/>
                  </a:ext>
                </a:extLst>
              </a:tr>
              <a:tr h="5489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="" xmlns:a16="http://schemas.microsoft.com/office/drawing/2014/main" val="48528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68353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2168A1-0E0A-4714-8516-2B6A2DCF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D63937-7DCA-41A8-8B6B-2F19FCF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41573" cy="365125"/>
          </a:xfrm>
        </p:spPr>
        <p:txBody>
          <a:bodyPr/>
          <a:lstStyle/>
          <a:p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7CBB8A-D4E6-4168-8A75-1F68178B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5B63B5-5900-46EB-9011-24A6E0F0CE19}"/>
              </a:ext>
            </a:extLst>
          </p:cNvPr>
          <p:cNvSpPr txBox="1"/>
          <p:nvPr/>
        </p:nvSpPr>
        <p:spPr>
          <a:xfrm>
            <a:off x="210065" y="0"/>
            <a:ext cx="117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Ilekes</a:t>
            </a:r>
            <a:r>
              <a:rPr lang="en-US" dirty="0"/>
              <a:t> 2025                                               Four Cowrie Divination Zoom Session Agenda                                              1/4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00682A-FF59-4876-A6CE-F29B3E464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90134"/>
            <a:ext cx="531341" cy="5313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72589CF-DFC1-4D59-8474-119670FB3E5F}"/>
              </a:ext>
            </a:extLst>
          </p:cNvPr>
          <p:cNvSpPr txBox="1"/>
          <p:nvPr/>
        </p:nvSpPr>
        <p:spPr>
          <a:xfrm>
            <a:off x="1504335" y="1032387"/>
            <a:ext cx="971918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/>
              <a:t>4  upwards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15CC0D3-3A8D-420B-B830-7C77689D3E1D}"/>
              </a:ext>
            </a:extLst>
          </p:cNvPr>
          <p:cNvSpPr txBox="1"/>
          <p:nvPr/>
        </p:nvSpPr>
        <p:spPr>
          <a:xfrm>
            <a:off x="210065" y="1032387"/>
            <a:ext cx="1297499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rgbClr val="FFC000"/>
                </a:solidFill>
              </a:rPr>
              <a:t>3 upwards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6D92401-C34C-4F39-B5B4-0A42B0947916}"/>
              </a:ext>
            </a:extLst>
          </p:cNvPr>
          <p:cNvSpPr txBox="1"/>
          <p:nvPr/>
        </p:nvSpPr>
        <p:spPr>
          <a:xfrm rot="20159022">
            <a:off x="0" y="583544"/>
            <a:ext cx="1051354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dirty="0">
                <a:solidFill>
                  <a:srgbClr val="FFFF00"/>
                </a:solidFill>
              </a:rPr>
              <a:t>Alafia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F566E3C-7269-421A-A80B-9556B7409306}"/>
              </a:ext>
            </a:extLst>
          </p:cNvPr>
          <p:cNvSpPr txBox="1"/>
          <p:nvPr/>
        </p:nvSpPr>
        <p:spPr>
          <a:xfrm rot="1199174">
            <a:off x="2341821" y="952568"/>
            <a:ext cx="932682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 err="1">
                <a:solidFill>
                  <a:srgbClr val="00B050"/>
                </a:solidFill>
              </a:rPr>
              <a:t>Etawa</a:t>
            </a:r>
            <a:r>
              <a:rPr lang="en-US" sz="16600" dirty="0">
                <a:solidFill>
                  <a:srgbClr val="00B050"/>
                </a:solidFill>
              </a:rPr>
              <a:t>-probably</a:t>
            </a:r>
            <a:endParaRPr lang="en-US" sz="6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7533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3" grpId="2"/>
      <p:bldP spid="8" grpId="0"/>
      <p:bldP spid="8" grpId="1"/>
      <p:bldP spid="8" grpId="2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2168A1-0E0A-4714-8516-2B6A2DCF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D63937-7DCA-41A8-8B6B-2F19FCF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41573" cy="365125"/>
          </a:xfrm>
        </p:spPr>
        <p:txBody>
          <a:bodyPr/>
          <a:lstStyle/>
          <a:p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7CBB8A-D4E6-4168-8A75-1F68178B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5B63B5-5900-46EB-9011-24A6E0F0CE19}"/>
              </a:ext>
            </a:extLst>
          </p:cNvPr>
          <p:cNvSpPr txBox="1"/>
          <p:nvPr/>
        </p:nvSpPr>
        <p:spPr>
          <a:xfrm>
            <a:off x="210065" y="0"/>
            <a:ext cx="117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Ilekes</a:t>
            </a:r>
            <a:r>
              <a:rPr lang="en-US" dirty="0"/>
              <a:t> 2025                                               Four Cowrie Divination Zoom Session Agenda                                              1/4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00682A-FF59-4876-A6CE-F29B3E464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90134"/>
            <a:ext cx="531341" cy="531341"/>
          </a:xfrm>
          <a:prstGeom prst="rect">
            <a:avLst/>
          </a:prstGeom>
        </p:spPr>
      </p:pic>
      <p:pic>
        <p:nvPicPr>
          <p:cNvPr id="10" name="Picture 9" descr="cowry_male_ipori">
            <a:extLst>
              <a:ext uri="{FF2B5EF4-FFF2-40B4-BE49-F238E27FC236}">
                <a16:creationId xmlns="" xmlns:a16="http://schemas.microsoft.com/office/drawing/2014/main" id="{62AF39ED-1343-4440-8D8B-D585A9B6D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0484578">
            <a:off x="3581400" y="1027071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owry_male_ipori">
            <a:extLst>
              <a:ext uri="{FF2B5EF4-FFF2-40B4-BE49-F238E27FC236}">
                <a16:creationId xmlns="" xmlns:a16="http://schemas.microsoft.com/office/drawing/2014/main" id="{120727B5-97E6-4FFA-B74C-77E3991A6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504235">
            <a:off x="4407569" y="2012909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cowry_male_ipori">
            <a:extLst>
              <a:ext uri="{FF2B5EF4-FFF2-40B4-BE49-F238E27FC236}">
                <a16:creationId xmlns="" xmlns:a16="http://schemas.microsoft.com/office/drawing/2014/main" id="{5BC64467-0AC8-4801-B869-E469E1081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8854356">
            <a:off x="5618748" y="3429000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owry_male_ipori">
            <a:extLst>
              <a:ext uri="{FF2B5EF4-FFF2-40B4-BE49-F238E27FC236}">
                <a16:creationId xmlns="" xmlns:a16="http://schemas.microsoft.com/office/drawing/2014/main" id="{F0F3F08A-E7C2-4C47-B2F6-84942ECCE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758560">
            <a:off x="3581400" y="4240402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654E29C-BF24-4B5D-BABF-34CCADC9F40C}"/>
              </a:ext>
            </a:extLst>
          </p:cNvPr>
          <p:cNvSpPr txBox="1"/>
          <p:nvPr/>
        </p:nvSpPr>
        <p:spPr>
          <a:xfrm>
            <a:off x="3036234" y="2797429"/>
            <a:ext cx="8772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Alafia- means yes with a blessing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B86D2E1-EB14-4CF1-A0B4-2FCFA353021A}"/>
              </a:ext>
            </a:extLst>
          </p:cNvPr>
          <p:cNvSpPr txBox="1"/>
          <p:nvPr/>
        </p:nvSpPr>
        <p:spPr>
          <a:xfrm>
            <a:off x="5349974" y="222930"/>
            <a:ext cx="6076334" cy="1878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shells same side </a:t>
            </a:r>
            <a:endParaRPr lang="en-US" sz="5400" dirty="0">
              <a:solidFill>
                <a:srgbClr val="00B0F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5400" b="1" dirty="0" err="1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Iwa</a:t>
            </a:r>
            <a:r>
              <a:rPr lang="en-US" sz="5400" b="1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Pele(+)</a:t>
            </a:r>
            <a:endParaRPr lang="en-US" sz="5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169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repeatCount="indefinite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4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9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3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path" presetSubtype="0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 0 L 0.089 -0.037 L 0.125 0 L 0.177 0 L 0.177 0.052 L 0.213 0.089 L 0.177 0.125 L 0.177 0.177 L 0.125 0.177 L 0.089 0.213 L 0.052 0.177 L 0 0.177 L 0 0.125 L -0.037 0.089 L 0 0.052 L 0 0 Z" pathEditMode="relative" ptsTypes="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1" presetClass="path" presetSubtype="0" repeatCount="indefinite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.062 L 0.108 0.062 L 0.072 0.125 L 0.108 0.187 L 0.036 0.187 L 0 0.25 L -0.036 0.187 L -0.108 0.187 L -0.072 0.125 L -0.108 0.062 L -0.036 0.062 L 0 0 Z" pathEditMode="relative" ptsTypes="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path" presetSubtype="0" repeatCount="indefinite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-0.25 E" pathEditMode="relative" ptsTypes=""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1" presetClass="path" presetSubtype="0" repeatCount="indefinite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 0.067 C -0.049 0.081 -0.054 0.102 -0.054 0.124 C -0.054 0.149 -0.049 0.169 -0.04 0.183 L 0 0.25 E" pathEditMode="relative" ptsTypes="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2168A1-0E0A-4714-8516-2B6A2DCF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D63937-7DCA-41A8-8B6B-2F19FCF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41573" cy="365125"/>
          </a:xfrm>
        </p:spPr>
        <p:txBody>
          <a:bodyPr/>
          <a:lstStyle/>
          <a:p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7CBB8A-D4E6-4168-8A75-1F68178B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5B63B5-5900-46EB-9011-24A6E0F0CE19}"/>
              </a:ext>
            </a:extLst>
          </p:cNvPr>
          <p:cNvSpPr txBox="1"/>
          <p:nvPr/>
        </p:nvSpPr>
        <p:spPr>
          <a:xfrm>
            <a:off x="210065" y="0"/>
            <a:ext cx="117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Ilekes</a:t>
            </a:r>
            <a:r>
              <a:rPr lang="en-US" dirty="0"/>
              <a:t> 2025                                               Four Cowrie Divination Zoom Session Agenda                                              1/4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00682A-FF59-4876-A6CE-F29B3E464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90134"/>
            <a:ext cx="531341" cy="531341"/>
          </a:xfrm>
          <a:prstGeom prst="rect">
            <a:avLst/>
          </a:prstGeom>
        </p:spPr>
      </p:pic>
      <p:pic>
        <p:nvPicPr>
          <p:cNvPr id="8" name="Picture 7" descr="cowry_male_ipori">
            <a:extLst>
              <a:ext uri="{FF2B5EF4-FFF2-40B4-BE49-F238E27FC236}">
                <a16:creationId xmlns="" xmlns:a16="http://schemas.microsoft.com/office/drawing/2014/main" id="{D8E0DE99-4AE6-49A4-9092-7AA9E89F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0484578">
            <a:off x="602229" y="1027071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cowry_male_ipori">
            <a:extLst>
              <a:ext uri="{FF2B5EF4-FFF2-40B4-BE49-F238E27FC236}">
                <a16:creationId xmlns="" xmlns:a16="http://schemas.microsoft.com/office/drawing/2014/main" id="{1281D35B-0DA5-4E41-9A90-037829FCA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504235">
            <a:off x="1428398" y="2012909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owry_male_ipori">
            <a:extLst>
              <a:ext uri="{FF2B5EF4-FFF2-40B4-BE49-F238E27FC236}">
                <a16:creationId xmlns="" xmlns:a16="http://schemas.microsoft.com/office/drawing/2014/main" id="{435B92D4-1D50-4109-9E86-FCB49CD8D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8854356">
            <a:off x="2639577" y="2573589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cowry_male_ipori">
            <a:extLst>
              <a:ext uri="{FF2B5EF4-FFF2-40B4-BE49-F238E27FC236}">
                <a16:creationId xmlns="" xmlns:a16="http://schemas.microsoft.com/office/drawing/2014/main" id="{614926F2-99ED-4639-B462-D70CD8083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1758560">
            <a:off x="602229" y="4240402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owry_female_Ipori_ibi">
            <a:extLst>
              <a:ext uri="{FF2B5EF4-FFF2-40B4-BE49-F238E27FC236}">
                <a16:creationId xmlns="" xmlns:a16="http://schemas.microsoft.com/office/drawing/2014/main" id="{52AA0A5C-1E63-45F9-AEE0-43574E492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18639501">
            <a:off x="292661" y="948692"/>
            <a:ext cx="1341167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BFAF053-2329-45CD-8287-135CD6C31310}"/>
              </a:ext>
            </a:extLst>
          </p:cNvPr>
          <p:cNvSpPr txBox="1"/>
          <p:nvPr/>
        </p:nvSpPr>
        <p:spPr>
          <a:xfrm rot="1199174">
            <a:off x="2836358" y="2188219"/>
            <a:ext cx="9326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B050"/>
                </a:solidFill>
              </a:rPr>
              <a:t>3 up=</a:t>
            </a:r>
            <a:r>
              <a:rPr lang="en-US" sz="8000" dirty="0" err="1">
                <a:solidFill>
                  <a:srgbClr val="00B050"/>
                </a:solidFill>
              </a:rPr>
              <a:t>Etawa:probably</a:t>
            </a:r>
            <a:endParaRPr lang="en-US" sz="3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0037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7213 0.1604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16783 0.2275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85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0703 0.4717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" y="2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wry_male_ipori">
            <a:extLst>
              <a:ext uri="{FF2B5EF4-FFF2-40B4-BE49-F238E27FC236}">
                <a16:creationId xmlns="" xmlns:a16="http://schemas.microsoft.com/office/drawing/2014/main" id="{8CF82F72-B728-432B-8283-11DA0306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0484578">
            <a:off x="484562" y="934262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2168A1-0E0A-4714-8516-2B6A2DCF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16April2025- Wednesday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D63937-7DCA-41A8-8B6B-2F19FCF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41573" cy="365125"/>
          </a:xfrm>
        </p:spPr>
        <p:txBody>
          <a:bodyPr/>
          <a:lstStyle/>
          <a:p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7CBB8A-D4E6-4168-8A75-1F68178B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E778B-00A5-4DA9-BEA1-BC866A646F7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5B63B5-5900-46EB-9011-24A6E0F0CE19}"/>
              </a:ext>
            </a:extLst>
          </p:cNvPr>
          <p:cNvSpPr txBox="1"/>
          <p:nvPr/>
        </p:nvSpPr>
        <p:spPr>
          <a:xfrm>
            <a:off x="210065" y="0"/>
            <a:ext cx="117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Ilekes</a:t>
            </a:r>
            <a:r>
              <a:rPr lang="en-US" dirty="0"/>
              <a:t> 2025                                               Four Cowrie Divination Zoom Session Agenda                                              1/4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00682A-FF59-4876-A6CE-F29B3E464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90134"/>
            <a:ext cx="531341" cy="531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0113788-89EA-4A61-8220-D027918A39C4}"/>
              </a:ext>
            </a:extLst>
          </p:cNvPr>
          <p:cNvSpPr txBox="1"/>
          <p:nvPr/>
        </p:nvSpPr>
        <p:spPr>
          <a:xfrm>
            <a:off x="3170903" y="1188544"/>
            <a:ext cx="9860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Rephrase question adding single suggestion on how to proceed. Next throw is answer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10" name="Picture 9" descr="cowry_male_ipori">
            <a:extLst>
              <a:ext uri="{FF2B5EF4-FFF2-40B4-BE49-F238E27FC236}">
                <a16:creationId xmlns="" xmlns:a16="http://schemas.microsoft.com/office/drawing/2014/main" id="{E51A12DF-C98F-4B19-846D-5A7CFFEA8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504235">
            <a:off x="1428398" y="2012909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owry_male_ipori">
            <a:extLst>
              <a:ext uri="{FF2B5EF4-FFF2-40B4-BE49-F238E27FC236}">
                <a16:creationId xmlns="" xmlns:a16="http://schemas.microsoft.com/office/drawing/2014/main" id="{40F061A6-550F-4174-8BD5-68446CD3E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8854356">
            <a:off x="2639577" y="2573589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cowry_male_ipori">
            <a:extLst>
              <a:ext uri="{FF2B5EF4-FFF2-40B4-BE49-F238E27FC236}">
                <a16:creationId xmlns="" xmlns:a16="http://schemas.microsoft.com/office/drawing/2014/main" id="{50A554DA-9311-4EDA-9C39-54F7E1078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1758560">
            <a:off x="602229" y="4240402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owry_female_Ipori_ibi">
            <a:extLst>
              <a:ext uri="{FF2B5EF4-FFF2-40B4-BE49-F238E27FC236}">
                <a16:creationId xmlns="" xmlns:a16="http://schemas.microsoft.com/office/drawing/2014/main" id="{15ACB6D5-8490-4220-9157-68498C6B4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18639501">
            <a:off x="292661" y="948692"/>
            <a:ext cx="1341167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11970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7213 0.1604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16783 0.2275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85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0703 0.4717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" y="2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9" presetClass="path" presetSubtype="0" repeatCount="indefinite" accel="50000" decel="50000" autoRev="1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8971 0.26759 C -0.08971 0.08195 -0.05169 -0.06204 -0.0056 -0.06204 C 0.04193 -0.06204 0.08008 0.08195 0.08008 0.26759 C 0.08008 0.45347 0.1181 0.59746 0.16576 0.59746 C 0.21185 0.59746 0.25 0.45347 0.25 0.26759 " pathEditMode="relative" rAng="0" ptsTypes="AAAAA">
                                      <p:cBhvr>
                                        <p:cTn id="22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BE865E-B8A6-437B-B0F3-7B1408BDE3A2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pic>
        <p:nvPicPr>
          <p:cNvPr id="2054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39913" y="184150"/>
            <a:ext cx="8142287" cy="18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11500"/>
              <a:t>Ilekes 2025 </a:t>
            </a:r>
            <a:endParaRPr lang="en-US" altLang="en-US" sz="800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663" y="2419350"/>
            <a:ext cx="11380787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4400">
                <a:solidFill>
                  <a:srgbClr val="FF0000"/>
                </a:solidFill>
              </a:rPr>
              <a:t>Four</a:t>
            </a:r>
            <a:r>
              <a:rPr lang="en-US" altLang="en-US" sz="4400"/>
              <a:t> Cowrie Divination Session Agenda</a:t>
            </a:r>
            <a:endParaRPr lang="en-US" altLang="en-US" sz="4800"/>
          </a:p>
          <a:p>
            <a:pPr eaLnBrk="0" hangingPunct="0"/>
            <a:r>
              <a:rPr lang="en-US" altLang="en-US" sz="4400"/>
              <a:t>All sessions @ 130pm-230 est</a:t>
            </a:r>
          </a:p>
          <a:p>
            <a:pPr eaLnBrk="0" hangingPunct="0"/>
            <a:r>
              <a:rPr lang="en-US" altLang="en-US">
                <a:hlinkClick r:id="rId3"/>
              </a:rPr>
              <a:t>https://us06web.zoom.us/j/9768449070?pwd=yYH4FZwxpTmacos1aa4VF87bJaNGaR.1&amp;omn=84109758758</a:t>
            </a:r>
            <a:endParaRPr lang="en-US" altLang="en-US" sz="32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87413" y="4097338"/>
            <a:ext cx="98329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5400"/>
              <a:t>Wed—</a:t>
            </a:r>
            <a:r>
              <a:rPr lang="en-US" altLang="en-US" sz="6600">
                <a:solidFill>
                  <a:srgbClr val="FF0000"/>
                </a:solidFill>
              </a:rPr>
              <a:t>Sat</a:t>
            </a:r>
            <a:r>
              <a:rPr lang="en-US" altLang="en-US" sz="5400"/>
              <a:t>—Sun--Wed</a:t>
            </a:r>
          </a:p>
          <a:p>
            <a:r>
              <a:rPr lang="en-US" sz="5400">
                <a:latin typeface="Calibri" pitchFamily="34" charset="0"/>
              </a:rPr>
              <a:t>    1         </a:t>
            </a:r>
            <a:r>
              <a:rPr lang="en-US" sz="7200">
                <a:solidFill>
                  <a:srgbClr val="FF0000"/>
                </a:solidFill>
                <a:latin typeface="Calibri" pitchFamily="34" charset="0"/>
              </a:rPr>
              <a:t>2</a:t>
            </a:r>
            <a:r>
              <a:rPr lang="en-US" sz="5400">
                <a:latin typeface="Calibri" pitchFamily="34" charset="0"/>
              </a:rPr>
              <a:t>          3         4</a:t>
            </a:r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BD22C-8221-475C-8A7B-35EB9BBB4EC2}" type="slidenum">
              <a:rPr lang="en-US"/>
              <a:pPr>
                <a:defRPr/>
              </a:pPr>
              <a:t>8</a:t>
            </a:fld>
            <a:endParaRPr lang="en-US"/>
          </a:p>
        </p:txBody>
      </p:sp>
      <p:pic>
        <p:nvPicPr>
          <p:cNvPr id="3076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>
            <a:extLst>
              <a:ext uri="{FF2B5EF4-FFF2-40B4-BE49-F238E27FC236}"/>
            </a:extLst>
          </p:cNvPr>
          <p:cNvGraphicFramePr>
            <a:graphicFrameLocks noGrp="1"/>
          </p:cNvGraphicFramePr>
          <p:nvPr/>
        </p:nvGraphicFramePr>
        <p:xfrm>
          <a:off x="677863" y="766763"/>
          <a:ext cx="10545099" cy="5380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704">
                  <a:extLst>
                    <a:ext uri="{9D8B030D-6E8A-4147-A177-3AD203B41FA5}"/>
                  </a:extLst>
                </a:gridCol>
                <a:gridCol w="737419">
                  <a:extLst>
                    <a:ext uri="{9D8B030D-6E8A-4147-A177-3AD203B41FA5}"/>
                  </a:extLst>
                </a:gridCol>
                <a:gridCol w="988142">
                  <a:extLst>
                    <a:ext uri="{9D8B030D-6E8A-4147-A177-3AD203B41FA5}"/>
                  </a:extLst>
                </a:gridCol>
                <a:gridCol w="1082180">
                  <a:extLst>
                    <a:ext uri="{9D8B030D-6E8A-4147-A177-3AD203B41FA5}"/>
                  </a:extLst>
                </a:gridCol>
                <a:gridCol w="1459042">
                  <a:extLst>
                    <a:ext uri="{9D8B030D-6E8A-4147-A177-3AD203B41FA5}"/>
                  </a:extLst>
                </a:gridCol>
                <a:gridCol w="1950204">
                  <a:extLst>
                    <a:ext uri="{9D8B030D-6E8A-4147-A177-3AD203B41FA5}"/>
                  </a:extLst>
                </a:gridCol>
                <a:gridCol w="2204342">
                  <a:extLst>
                    <a:ext uri="{9D8B030D-6E8A-4147-A177-3AD203B41FA5}"/>
                  </a:extLst>
                </a:gridCol>
                <a:gridCol w="1696066">
                  <a:extLst>
                    <a:ext uri="{9D8B030D-6E8A-4147-A177-3AD203B41FA5}"/>
                  </a:extLst>
                </a:gridCol>
              </a:tblGrid>
              <a:tr h="6378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Date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Topic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Facing up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Meaning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How to re-phrase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  <a:tr h="5489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Wed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rowSpan="2"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16April          </a:t>
                      </a:r>
                      <a:r>
                        <a:rPr lang="en-US" sz="2000" u="sng" dirty="0">
                          <a:solidFill>
                            <a:schemeClr val="tx1"/>
                          </a:solidFill>
                          <a:effectLst/>
                        </a:rPr>
                        <a:t>Altar, Shrine</a:t>
                      </a:r>
                      <a:r>
                        <a:rPr lang="en-US" sz="2000" u="sng" dirty="0">
                          <a:effectLst/>
                        </a:rPr>
                        <a:t>,  Obi Orientation - 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                   </a:t>
                      </a:r>
                      <a:r>
                        <a:rPr lang="en-US" sz="2000" b="1" dirty="0">
                          <a:effectLst/>
                        </a:rPr>
                        <a:t>Alafia</a:t>
                      </a:r>
                      <a:r>
                        <a:rPr lang="en-US" sz="2000" dirty="0">
                          <a:effectLst/>
                        </a:rPr>
                        <a:t>,                       4 up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                    </a:t>
                      </a:r>
                      <a:r>
                        <a:rPr lang="en-US" sz="2000" b="1" dirty="0" err="1">
                          <a:effectLst/>
                        </a:rPr>
                        <a:t>Etawa</a:t>
                      </a:r>
                      <a:r>
                        <a:rPr lang="en-US" sz="2000" dirty="0">
                          <a:effectLst/>
                        </a:rPr>
                        <a:t>                       3 up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Yes</a:t>
                      </a:r>
                      <a:endParaRPr lang="en-US" sz="2000" b="1" i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Gratitude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  <a:tr h="5025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Probably</a:t>
                      </a:r>
                      <a:r>
                        <a:rPr lang="en-US" sz="2000" dirty="0">
                          <a:effectLst/>
                        </a:rPr>
                        <a:t>, re-phrase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????????????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  <a:tr h="893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Sat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19Apr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Questions- </a:t>
                      </a:r>
                      <a:r>
                        <a:rPr lang="en-US" sz="3200" b="1" dirty="0" err="1">
                          <a:solidFill>
                            <a:srgbClr val="FF0000"/>
                          </a:solidFill>
                          <a:effectLst/>
                        </a:rPr>
                        <a:t>Ejife</a:t>
                      </a:r>
                      <a:endParaRPr lang="en-US" sz="3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Questions- </a:t>
                      </a:r>
                      <a:r>
                        <a:rPr lang="en-US" sz="2000" b="1" dirty="0" err="1">
                          <a:effectLst/>
                        </a:rPr>
                        <a:t>Ejife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FF0000"/>
                          </a:solidFill>
                          <a:effectLst/>
                        </a:rPr>
                        <a:t>2 up</a:t>
                      </a:r>
                      <a:r>
                        <a:rPr lang="en-US" sz="2000" dirty="0">
                          <a:effectLst/>
                        </a:rPr>
                        <a:t>- the six </a:t>
                      </a:r>
                      <a:r>
                        <a:rPr lang="en-US" sz="2000" dirty="0" err="1">
                          <a:effectLst/>
                        </a:rPr>
                        <a:t>followup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1" dirty="0">
                          <a:solidFill>
                            <a:srgbClr val="FF0000"/>
                          </a:solidFill>
                          <a:effectLst/>
                        </a:rPr>
                        <a:t>Definitely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-</a:t>
                      </a:r>
                      <a:r>
                        <a:rPr lang="en-US" sz="1800" dirty="0">
                          <a:effectLst/>
                        </a:rPr>
                        <a:t>Wisdom after lessons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????????????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  <a:tr h="893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Sun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20Apr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Offerings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Okana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Offerings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Okana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 up- the four </a:t>
                      </a:r>
                      <a:r>
                        <a:rPr lang="en-US" sz="2000" dirty="0" err="1">
                          <a:effectLst/>
                        </a:rPr>
                        <a:t>followup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Doubtful</a:t>
                      </a:r>
                      <a:r>
                        <a:rPr lang="en-US" sz="2000" dirty="0">
                          <a:effectLst/>
                        </a:rPr>
                        <a:t>, re-phrase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????????????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  <a:tr h="893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Wed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23Apr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Change Topic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Oyeku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Change Topic</a:t>
                      </a:r>
                      <a:r>
                        <a:rPr lang="en-US" sz="2000" dirty="0">
                          <a:effectLst/>
                        </a:rPr>
                        <a:t>- </a:t>
                      </a:r>
                      <a:r>
                        <a:rPr lang="en-US" sz="2000" b="1" dirty="0" err="1">
                          <a:effectLst/>
                        </a:rPr>
                        <a:t>Oyeku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No up- All Down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</a:rPr>
                        <a:t>Nope</a:t>
                      </a:r>
                      <a:r>
                        <a:rPr lang="en-US" sz="2000" dirty="0">
                          <a:effectLst/>
                        </a:rPr>
                        <a:t> - very challenging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Acceptance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  <a:tr h="5489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3141" name="TextBox 7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sp>
        <p:nvSpPr>
          <p:cNvPr id="11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733F9-49A8-4BF3-A69B-A6C80B393638}" type="slidenum">
              <a:rPr lang="en-US"/>
              <a:pPr>
                <a:defRPr/>
              </a:pPr>
              <a:t>9</a:t>
            </a:fld>
            <a:endParaRPr lang="en-US"/>
          </a:p>
        </p:txBody>
      </p:sp>
      <p:pic>
        <p:nvPicPr>
          <p:cNvPr id="4100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04950" y="1031875"/>
            <a:ext cx="9718675" cy="18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500">
                <a:latin typeface="Calibri" pitchFamily="34" charset="0"/>
              </a:rPr>
              <a:t>4  upwards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09550" y="1031875"/>
            <a:ext cx="12976225" cy="315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9900">
                <a:solidFill>
                  <a:srgbClr val="FFC000"/>
                </a:solidFill>
                <a:latin typeface="Calibri" pitchFamily="34" charset="0"/>
              </a:rPr>
              <a:t>3 upwards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 rot="-1440978">
            <a:off x="0" y="584200"/>
            <a:ext cx="10514013" cy="450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700">
                <a:solidFill>
                  <a:srgbClr val="FFFF00"/>
                </a:solidFill>
                <a:latin typeface="Calibri" pitchFamily="34" charset="0"/>
              </a:rPr>
              <a:t>Alafia</a:t>
            </a:r>
            <a:endParaRPr lang="en-US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 rot="1199174">
            <a:off x="2341563" y="952500"/>
            <a:ext cx="9326562" cy="520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600">
                <a:solidFill>
                  <a:srgbClr val="00B050"/>
                </a:solidFill>
                <a:latin typeface="Calibri" pitchFamily="34" charset="0"/>
              </a:rPr>
              <a:t>Etawa-probably</a:t>
            </a:r>
            <a:endParaRPr lang="en-US" sz="6000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4105" name="TextBox 10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sp>
        <p:nvSpPr>
          <p:cNvPr id="12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3" grpId="2"/>
      <p:bldP spid="8" grpId="0"/>
      <p:bldP spid="8" grpId="1"/>
      <p:bldP spid="8" grpId="2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642C83-4427-4C73-8ACB-E58A9AB50097}" type="slidenum">
              <a:rPr lang="en-US"/>
              <a:pPr>
                <a:defRPr/>
              </a:pPr>
              <a:t>10</a:t>
            </a:fld>
            <a:endParaRPr lang="en-US"/>
          </a:p>
        </p:txBody>
      </p:sp>
      <p:pic>
        <p:nvPicPr>
          <p:cNvPr id="5124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cowry_male_ipor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0484578">
            <a:off x="3581400" y="1027113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504235">
            <a:off x="4407694" y="2012156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-2745644">
            <a:off x="5618957" y="3429794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758560">
            <a:off x="3581400" y="4240213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036888" y="2797175"/>
            <a:ext cx="877252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800">
                <a:solidFill>
                  <a:srgbClr val="FF0000"/>
                </a:solidFill>
                <a:latin typeface="Calibri" pitchFamily="34" charset="0"/>
              </a:rPr>
              <a:t>Alafia- means yes with a blessing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349875" y="222250"/>
            <a:ext cx="6076950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sz="5400">
                <a:solidFill>
                  <a:srgbClr val="00B0F0"/>
                </a:solidFill>
                <a:latin typeface="Calibri" pitchFamily="34" charset="0"/>
              </a:rPr>
              <a:t>All shells same side </a:t>
            </a:r>
            <a:endParaRPr lang="en-US" sz="5400">
              <a:solidFill>
                <a:srgbClr val="00B0F0"/>
              </a:solidFill>
            </a:endParaRPr>
          </a:p>
          <a:p>
            <a:r>
              <a:rPr lang="en-US" sz="5400" b="1">
                <a:solidFill>
                  <a:srgbClr val="00B0F0"/>
                </a:solidFill>
                <a:latin typeface="Calibri" pitchFamily="34" charset="0"/>
              </a:rPr>
              <a:t>Iwa Pele(+)</a:t>
            </a:r>
            <a:endParaRPr lang="en-US" sz="5400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5131" name="TextBox 14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sp>
        <p:nvSpPr>
          <p:cNvPr id="16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repeatCount="indefinite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4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9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3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path" presetSubtype="0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 0 L 0.089 -0.037 L 0.125 0 L 0.177 0 L 0.177 0.052 L 0.213 0.089 L 0.177 0.125 L 0.177 0.177 L 0.125 0.177 L 0.089 0.213 L 0.052 0.177 L 0 0.177 L 0 0.125 L -0.037 0.089 L 0 0.052 L 0 0 Z" pathEditMode="relative" ptsTypes="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1" presetClass="path" presetSubtype="0" repeatCount="indefinite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.062 L 0.108 0.062 L 0.072 0.125 L 0.108 0.187 L 0.036 0.187 L 0 0.25 L -0.036 0.187 L -0.108 0.187 L -0.072 0.125 L -0.108 0.062 L -0.036 0.062 L 0 0 Z" pathEditMode="relative" ptsTypes="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path" presetSubtype="0" repeatCount="indefinite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-0.25 E" pathEditMode="relative" ptsTypes=""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1" presetClass="path" presetSubtype="0" repeatCount="indefinite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 0.067 C -0.049 0.081 -0.054 0.102 -0.054 0.124 C -0.054 0.149 -0.049 0.169 -0.04 0.183 L 0 0.25 E" pathEditMode="relative" ptsTypes="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8F9E9-411F-4E73-B721-F66807023056}" type="slidenum">
              <a:rPr lang="en-US"/>
              <a:pPr>
                <a:defRPr/>
              </a:pPr>
              <a:t>11</a:t>
            </a:fld>
            <a:endParaRPr lang="en-US"/>
          </a:p>
        </p:txBody>
      </p:sp>
      <p:pic>
        <p:nvPicPr>
          <p:cNvPr id="614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7" descr="cowry_male_ipor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0484578">
            <a:off x="601663" y="1027113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9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504235">
            <a:off x="1427957" y="2012156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10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-2745644">
            <a:off x="2639219" y="2574131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11" descr="cowry_male_ipori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1758560">
            <a:off x="601663" y="4240213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owry_female_Ipori_ibi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-2960499">
            <a:off x="292894" y="948531"/>
            <a:ext cx="1341438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 rot="1199174">
            <a:off x="2836863" y="2187575"/>
            <a:ext cx="932656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>
                <a:solidFill>
                  <a:srgbClr val="00B050"/>
                </a:solidFill>
                <a:latin typeface="Calibri" pitchFamily="34" charset="0"/>
              </a:rPr>
              <a:t>3 up=Etawa:probably</a:t>
            </a:r>
            <a:endParaRPr lang="en-US" sz="3600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6155" name="TextBox 14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sp>
        <p:nvSpPr>
          <p:cNvPr id="16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7213 0.1604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16783 0.2275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85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0703 0.4717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" y="2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3" descr="cowry_male_ipor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0484578">
            <a:off x="484188" y="935038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DE9CAF-F6A0-46E9-8E48-04B5759DA66B}" type="slidenum">
              <a:rPr lang="en-US"/>
              <a:pPr>
                <a:defRPr/>
              </a:pPr>
              <a:t>12</a:t>
            </a:fld>
            <a:endParaRPr lang="en-US"/>
          </a:p>
        </p:txBody>
      </p:sp>
      <p:pic>
        <p:nvPicPr>
          <p:cNvPr id="7173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170238" y="1189038"/>
            <a:ext cx="98615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Calibri" pitchFamily="34" charset="0"/>
              </a:rPr>
              <a:t>Rephrase question adding single suggestion on how to proceed. Next throw is answer</a:t>
            </a:r>
          </a:p>
        </p:txBody>
      </p:sp>
      <p:pic>
        <p:nvPicPr>
          <p:cNvPr id="7175" name="Picture 9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504235">
            <a:off x="1427957" y="2012156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10" descr="cowry_male_ipor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-2745644">
            <a:off x="2639219" y="2574131"/>
            <a:ext cx="6858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7" name="Picture 11" descr="cowry_male_ipori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1758560">
            <a:off x="601663" y="4240213"/>
            <a:ext cx="6858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owry_female_Ipori_ibi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-2960499">
            <a:off x="292894" y="948531"/>
            <a:ext cx="1341438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9" name="TextBox 14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sp>
        <p:nvSpPr>
          <p:cNvPr id="16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7213 0.1604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16783 0.2275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85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00703 0.4717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" y="2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9" presetClass="path" presetSubtype="0" repeatCount="indefinite" accel="50000" decel="50000" autoRev="1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8971 0.26759 C -0.08971 0.08195 -0.05169 -0.06204 -0.0056 -0.06204 C 0.04193 -0.06204 0.08008 0.08195 0.08008 0.26759 C 0.08008 0.45347 0.1181 0.59746 0.16576 0.59746 C 0.21185 0.59746 0.25 0.45347 0.25 0.26759 " pathEditMode="relative" rAng="0" ptsTypes="AAAAA">
                                      <p:cBhvr>
                                        <p:cTn id="22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9895F-912D-4C8C-B642-A93754DA33C5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8197" name="TextBox 6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2/4</a:t>
            </a:r>
          </a:p>
        </p:txBody>
      </p:sp>
      <p:pic>
        <p:nvPicPr>
          <p:cNvPr id="819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39913" y="184150"/>
            <a:ext cx="8142287" cy="18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11500"/>
              <a:t>Ilekes 2025 </a:t>
            </a:r>
            <a:endParaRPr lang="en-US" altLang="en-US" sz="800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663" y="2419350"/>
            <a:ext cx="11380787" cy="307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4400">
                <a:solidFill>
                  <a:srgbClr val="FF0000"/>
                </a:solidFill>
              </a:rPr>
              <a:t>Four</a:t>
            </a:r>
            <a:r>
              <a:rPr lang="en-US" altLang="en-US" sz="4400"/>
              <a:t> Cowrie Divination Session Agenda</a:t>
            </a:r>
            <a:endParaRPr lang="en-US" altLang="en-US" sz="4800"/>
          </a:p>
          <a:p>
            <a:pPr eaLnBrk="0" hangingPunct="0"/>
            <a:r>
              <a:rPr lang="en-US" altLang="en-US" sz="4400"/>
              <a:t>All sessions @ 130pm-230 est</a:t>
            </a:r>
          </a:p>
          <a:p>
            <a:pPr eaLnBrk="0" hangingPunct="0"/>
            <a:endParaRPr lang="en-US" altLang="en-US" sz="4400"/>
          </a:p>
          <a:p>
            <a:pPr eaLnBrk="0" hangingPunct="0"/>
            <a:endParaRPr lang="en-US" altLang="en-US" sz="4400"/>
          </a:p>
          <a:p>
            <a:pPr eaLnBrk="0" hangingPunct="0"/>
            <a:r>
              <a:rPr lang="en-US" altLang="en-US">
                <a:hlinkClick r:id="rId3"/>
              </a:rPr>
              <a:t>https://us06web.zoom.us/j/9768449070?pwd=yYH4FZwxpTmacos1aa4VF87bJaNGaR.1&amp;omn=84109758758</a:t>
            </a:r>
            <a:endParaRPr lang="en-US" altLang="en-US" sz="32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87413" y="4097338"/>
            <a:ext cx="98329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5400"/>
              <a:t>Wed—</a:t>
            </a:r>
            <a:r>
              <a:rPr lang="en-US" altLang="en-US" sz="6600">
                <a:solidFill>
                  <a:srgbClr val="FF0000"/>
                </a:solidFill>
              </a:rPr>
              <a:t>Sat</a:t>
            </a:r>
            <a:r>
              <a:rPr lang="en-US" altLang="en-US" sz="5400"/>
              <a:t>—Sun--Wed</a:t>
            </a:r>
          </a:p>
          <a:p>
            <a:r>
              <a:rPr lang="en-US" sz="5400">
                <a:latin typeface="Calibri" pitchFamily="34" charset="0"/>
              </a:rPr>
              <a:t>    1         </a:t>
            </a:r>
            <a:r>
              <a:rPr lang="en-US" sz="7200">
                <a:solidFill>
                  <a:srgbClr val="FF0000"/>
                </a:solidFill>
                <a:latin typeface="Calibri" pitchFamily="34" charset="0"/>
              </a:rPr>
              <a:t>2</a:t>
            </a:r>
            <a:r>
              <a:rPr lang="en-US" sz="5400">
                <a:latin typeface="Calibri" pitchFamily="34" charset="0"/>
              </a:rPr>
              <a:t>          3         4</a:t>
            </a:r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Saturday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SwamiG Institute                                                                           $</a:t>
            </a:r>
            <a:r>
              <a:rPr lang="en-US" dirty="0" err="1" smtClean="0"/>
              <a:t>DrSwamiG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2413" y="6356350"/>
            <a:ext cx="348138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Heru</a:t>
            </a:r>
            <a:r>
              <a:rPr lang="en-US" dirty="0"/>
              <a:t>(-)</a:t>
            </a:r>
            <a:r>
              <a:rPr lang="en-US" dirty="0" err="1"/>
              <a:t>Obara</a:t>
            </a:r>
            <a:r>
              <a:rPr lang="en-US" dirty="0"/>
              <a:t>/ </a:t>
            </a:r>
            <a:r>
              <a:rPr lang="en-US" dirty="0" err="1"/>
              <a:t>Maat</a:t>
            </a:r>
            <a:r>
              <a:rPr lang="en-US" dirty="0"/>
              <a:t>(+) </a:t>
            </a:r>
            <a:r>
              <a:rPr lang="en-US" dirty="0" err="1"/>
              <a:t>Osa</a:t>
            </a:r>
            <a:r>
              <a:rPr lang="en-US" dirty="0"/>
              <a:t> </a:t>
            </a:r>
            <a:fld id="{E05EDEC3-FA4D-4156-8324-6CE557CF52BC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77813" y="39688"/>
            <a:ext cx="1138237" cy="6616700"/>
            <a:chOff x="278136" y="40191"/>
            <a:chExt cx="1138700" cy="6616631"/>
          </a:xfrm>
        </p:grpSpPr>
        <p:pic>
          <p:nvPicPr>
            <p:cNvPr id="9252" name="Picture 6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428155" y="1741535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53" name="Picture 8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496211" y="3418766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54" name="Picture 9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9040" y="542902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55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73388" y="15356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541463" y="374650"/>
            <a:ext cx="1271587" cy="5768975"/>
            <a:chOff x="1541473" y="374183"/>
            <a:chExt cx="1271052" cy="5769457"/>
          </a:xfrm>
        </p:grpSpPr>
        <p:pic>
          <p:nvPicPr>
            <p:cNvPr id="9248" name="Picture 1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428102" y="311652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9" name="Picture 11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773233" y="224164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50" name="Picture 12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722021" y="515780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51" name="Picture 14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584729" y="169744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651250" y="104775"/>
            <a:ext cx="1138238" cy="6465888"/>
            <a:chOff x="3650772" y="104759"/>
            <a:chExt cx="1138700" cy="6465927"/>
          </a:xfrm>
        </p:grpSpPr>
        <p:pic>
          <p:nvPicPr>
            <p:cNvPr id="9244" name="Picture 18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46023" y="348648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5" name="Picture 15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3800791" y="165539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6" name="Picture 16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3776082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7" name="Picture 17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61676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481638" y="42863"/>
            <a:ext cx="1130300" cy="5967412"/>
            <a:chOff x="5481579" y="42152"/>
            <a:chExt cx="1130078" cy="5967474"/>
          </a:xfrm>
        </p:grpSpPr>
        <p:pic>
          <p:nvPicPr>
            <p:cNvPr id="9240" name="Picture 2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83861" y="2011927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1" name="Picture 22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68208" y="155523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2" name="Picture 19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5689203" y="517380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43" name="Picture 20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5664494" y="362316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7805738" y="104775"/>
            <a:ext cx="1296987" cy="6465888"/>
            <a:chOff x="7805276" y="104759"/>
            <a:chExt cx="1297725" cy="6465927"/>
          </a:xfrm>
        </p:grpSpPr>
        <p:pic>
          <p:nvPicPr>
            <p:cNvPr id="9236" name="Picture 23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7955295" y="3537208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37" name="Picture 24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8089611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38" name="Picture 25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875205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39" name="Picture 2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780039" y="147215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10006013" y="201613"/>
            <a:ext cx="1235075" cy="5781675"/>
            <a:chOff x="10006534" y="201178"/>
            <a:chExt cx="1234266" cy="5781991"/>
          </a:xfrm>
        </p:grpSpPr>
        <p:pic>
          <p:nvPicPr>
            <p:cNvPr id="9232" name="Picture 27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0175009" y="5147350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33" name="Picture 28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0415334" y="183417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34" name="Picture 29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9893163" y="342795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35" name="Picture 3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013004" y="314549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3" name="TextBox 42"/>
          <p:cNvSpPr txBox="1">
            <a:spLocks noChangeArrowheads="1"/>
          </p:cNvSpPr>
          <p:nvPr/>
        </p:nvSpPr>
        <p:spPr bwMode="auto">
          <a:xfrm rot="-1090100">
            <a:off x="447675" y="862013"/>
            <a:ext cx="10258425" cy="450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700" b="1">
                <a:solidFill>
                  <a:srgbClr val="FF0000"/>
                </a:solidFill>
                <a:latin typeface="Calibri" pitchFamily="34" charset="0"/>
              </a:rPr>
              <a:t>Ejife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 rot="-2544630">
            <a:off x="-144463" y="1473200"/>
            <a:ext cx="372586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000">
                <a:solidFill>
                  <a:srgbClr val="FF0000"/>
                </a:solidFill>
                <a:latin typeface="Calibri" pitchFamily="34" charset="0"/>
              </a:rPr>
              <a:t>Definitely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 rot="-255194">
            <a:off x="8169275" y="3325813"/>
            <a:ext cx="3725863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000">
                <a:solidFill>
                  <a:srgbClr val="FF0000"/>
                </a:solidFill>
                <a:latin typeface="Calibri" pitchFamily="34" charset="0"/>
              </a:rPr>
              <a:t>Wisdom after some struggle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78061" y="326120"/>
            <a:ext cx="8061630" cy="621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9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cs typeface="+mn-cs"/>
              </a:rPr>
              <a:t>2 up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9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cs typeface="+mn-cs"/>
              </a:rPr>
              <a:t>2 down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8769350" y="1154113"/>
            <a:ext cx="28035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 b="1">
                <a:solidFill>
                  <a:srgbClr val="FF0000"/>
                </a:solidFill>
                <a:latin typeface="Calibri" pitchFamily="34" charset="0"/>
              </a:rPr>
              <a:t>Definitely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" dur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0" fill="hold"/>
                                        <p:tgtEl>
                                          <p:spTgt spid="4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48" dur="2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4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52" dur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57" dur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4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0" dur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3" grpId="2"/>
      <p:bldP spid="44" grpId="0"/>
      <p:bldP spid="44" grpId="1"/>
      <p:bldP spid="45" grpId="0"/>
      <p:bldP spid="45" grpId="1"/>
      <p:bldP spid="45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Saturday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SwamiG Institute                                                                           $</a:t>
            </a:r>
            <a:r>
              <a:rPr lang="en-US" dirty="0" err="1" smtClean="0"/>
              <a:t>DrSwamiG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2413" y="6356350"/>
            <a:ext cx="348138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Heru</a:t>
            </a:r>
            <a:r>
              <a:rPr lang="en-US" dirty="0"/>
              <a:t>(-)</a:t>
            </a:r>
            <a:r>
              <a:rPr lang="en-US" dirty="0" err="1"/>
              <a:t>Obara</a:t>
            </a:r>
            <a:r>
              <a:rPr lang="en-US" dirty="0"/>
              <a:t>/ </a:t>
            </a:r>
            <a:r>
              <a:rPr lang="en-US" dirty="0" err="1"/>
              <a:t>Maat</a:t>
            </a:r>
            <a:r>
              <a:rPr lang="en-US" dirty="0"/>
              <a:t>(+) </a:t>
            </a:r>
            <a:r>
              <a:rPr lang="en-US" dirty="0" err="1"/>
              <a:t>Osa</a:t>
            </a:r>
            <a:r>
              <a:rPr lang="en-US" dirty="0"/>
              <a:t> </a:t>
            </a:r>
            <a:fld id="{6A31A424-9785-4CCB-8540-7C3C4ABEEFA2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77813" y="39688"/>
            <a:ext cx="1138237" cy="6616700"/>
            <a:chOff x="278136" y="40191"/>
            <a:chExt cx="1138700" cy="6616631"/>
          </a:xfrm>
        </p:grpSpPr>
        <p:pic>
          <p:nvPicPr>
            <p:cNvPr id="10279" name="Picture 6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428155" y="1741535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80" name="Picture 8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496211" y="3418766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81" name="Picture 9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9040" y="542902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82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73388" y="15356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541463" y="374650"/>
            <a:ext cx="1271587" cy="5768975"/>
            <a:chOff x="1541473" y="374183"/>
            <a:chExt cx="1271052" cy="5769457"/>
          </a:xfrm>
        </p:grpSpPr>
        <p:pic>
          <p:nvPicPr>
            <p:cNvPr id="10275" name="Picture 1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428102" y="311652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6" name="Picture 11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773233" y="224164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7" name="Picture 12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722021" y="515780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8" name="Picture 14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584729" y="169744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651250" y="104775"/>
            <a:ext cx="1138238" cy="6465888"/>
            <a:chOff x="3650772" y="104759"/>
            <a:chExt cx="1138700" cy="6465927"/>
          </a:xfrm>
        </p:grpSpPr>
        <p:pic>
          <p:nvPicPr>
            <p:cNvPr id="10271" name="Picture 18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46023" y="348648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2" name="Picture 15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3800791" y="165539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3" name="Picture 16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3776082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4" name="Picture 17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61676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691188" y="0"/>
            <a:ext cx="1130300" cy="5967413"/>
            <a:chOff x="5481579" y="42152"/>
            <a:chExt cx="1130078" cy="5967474"/>
          </a:xfrm>
        </p:grpSpPr>
        <p:pic>
          <p:nvPicPr>
            <p:cNvPr id="10267" name="Picture 2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83861" y="2011927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8" name="Picture 22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68208" y="155523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9" name="Picture 19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5689203" y="517380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0" name="Picture 20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5664494" y="362316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7805738" y="104775"/>
            <a:ext cx="1296987" cy="6465888"/>
            <a:chOff x="7805276" y="104759"/>
            <a:chExt cx="1297725" cy="6465927"/>
          </a:xfrm>
        </p:grpSpPr>
        <p:pic>
          <p:nvPicPr>
            <p:cNvPr id="10263" name="Picture 23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7955295" y="3537208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4" name="Picture 24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8089611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5" name="Picture 25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875205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6" name="Picture 2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780039" y="147215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10006013" y="201613"/>
            <a:ext cx="1235075" cy="5781675"/>
            <a:chOff x="10006534" y="201178"/>
            <a:chExt cx="1234266" cy="5781991"/>
          </a:xfrm>
        </p:grpSpPr>
        <p:pic>
          <p:nvPicPr>
            <p:cNvPr id="10259" name="Picture 27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0175009" y="5147350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0" name="Picture 28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0415334" y="183417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1" name="Picture 29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9893163" y="342795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2" name="Picture 3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013004" y="314549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2368550" y="1603375"/>
            <a:ext cx="7974013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800" b="1">
                <a:solidFill>
                  <a:srgbClr val="FF0000"/>
                </a:solidFill>
                <a:latin typeface="Calibri" pitchFamily="34" charset="0"/>
              </a:rPr>
              <a:t>Definitely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 rot="-1626166">
            <a:off x="-244475" y="1957388"/>
            <a:ext cx="1136967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 b="1">
                <a:solidFill>
                  <a:srgbClr val="00B0F0"/>
                </a:solidFill>
                <a:latin typeface="Calibri" pitchFamily="34" charset="0"/>
              </a:rPr>
              <a:t>Where is the Wisdom coming from?</a:t>
            </a:r>
            <a:endParaRPr lang="en-US" sz="2400" b="1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23875" y="2382838"/>
            <a:ext cx="914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solidFill>
                  <a:srgbClr val="00B0F0"/>
                </a:solidFill>
                <a:latin typeface="Calibri" pitchFamily="34" charset="0"/>
              </a:rPr>
              <a:t>1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055813" y="796925"/>
            <a:ext cx="914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solidFill>
                  <a:srgbClr val="00B0F0"/>
                </a:solidFill>
                <a:latin typeface="Calibri" pitchFamily="34" charset="0"/>
              </a:rPr>
              <a:t>2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337050" y="5657850"/>
            <a:ext cx="914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solidFill>
                  <a:srgbClr val="00B0F0"/>
                </a:solidFill>
                <a:latin typeface="Calibri" pitchFamily="34" charset="0"/>
              </a:rPr>
              <a:t>3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6573838" y="4581525"/>
            <a:ext cx="914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solidFill>
                  <a:srgbClr val="00B0F0"/>
                </a:solidFill>
                <a:latin typeface="Calibri" pitchFamily="34" charset="0"/>
              </a:rPr>
              <a:t>4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8583613" y="4552950"/>
            <a:ext cx="914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solidFill>
                  <a:srgbClr val="00B0F0"/>
                </a:solidFill>
                <a:latin typeface="Calibri" pitchFamily="34" charset="0"/>
              </a:rPr>
              <a:t>5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0969625" y="4270375"/>
            <a:ext cx="914400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>
                <a:solidFill>
                  <a:srgbClr val="00B0F0"/>
                </a:solidFill>
                <a:latin typeface="Calibri" pitchFamily="34" charset="0"/>
              </a:rPr>
              <a:t>6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1" dur="2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3" dur="1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1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7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0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3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4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6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4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9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4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82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4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85" dur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4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88" dur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allAtOnce"/>
      <p:bldP spid="36" grpId="0"/>
      <p:bldP spid="37" grpId="0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Saturday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SwamiG Institute                                                                           $</a:t>
            </a:r>
            <a:r>
              <a:rPr lang="en-US" dirty="0" err="1" smtClean="0"/>
              <a:t>DrSwamiG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2413" y="6356350"/>
            <a:ext cx="348138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Heru</a:t>
            </a:r>
            <a:r>
              <a:rPr lang="en-US" dirty="0"/>
              <a:t>(-)</a:t>
            </a:r>
            <a:r>
              <a:rPr lang="en-US" dirty="0" err="1"/>
              <a:t>Obara</a:t>
            </a:r>
            <a:r>
              <a:rPr lang="en-US" dirty="0"/>
              <a:t>/ </a:t>
            </a:r>
            <a:r>
              <a:rPr lang="en-US" dirty="0" err="1"/>
              <a:t>Maat</a:t>
            </a:r>
            <a:r>
              <a:rPr lang="en-US" dirty="0"/>
              <a:t>(+) </a:t>
            </a:r>
            <a:r>
              <a:rPr lang="en-US" dirty="0" err="1"/>
              <a:t>Osa</a:t>
            </a:r>
            <a:r>
              <a:rPr lang="en-US" dirty="0"/>
              <a:t> </a:t>
            </a:r>
            <a:fld id="{6ABC5EC4-06B9-4F4A-B852-2772EE4FD83F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 rot="-1626166">
            <a:off x="-244475" y="1957388"/>
            <a:ext cx="1136967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 b="1">
                <a:solidFill>
                  <a:srgbClr val="00B0F0"/>
                </a:solidFill>
                <a:latin typeface="Calibri" pitchFamily="34" charset="0"/>
              </a:rPr>
              <a:t>Where is the Wisdom coming from?</a:t>
            </a:r>
            <a:endParaRPr lang="en-US" sz="2400" b="1">
              <a:solidFill>
                <a:srgbClr val="00B0F0"/>
              </a:solidFill>
              <a:latin typeface="Calibri" pitchFamily="34" charset="0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77813" y="39688"/>
            <a:ext cx="1160462" cy="6616700"/>
            <a:chOff x="278136" y="40191"/>
            <a:chExt cx="1160919" cy="6616631"/>
          </a:xfrm>
        </p:grpSpPr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278136" y="40191"/>
              <a:ext cx="1138700" cy="6616631"/>
              <a:chOff x="278136" y="40191"/>
              <a:chExt cx="1138700" cy="6616631"/>
            </a:xfrm>
          </p:grpSpPr>
          <p:pic>
            <p:nvPicPr>
              <p:cNvPr id="11308" name="Picture 6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428155" y="1741535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309" name="Picture 8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496211" y="3418766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310" name="Picture 9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89040" y="5429026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311" name="Picture 10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73388" y="153562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1307" name="TextBox 36"/>
            <p:cNvSpPr txBox="1">
              <a:spLocks noChangeArrowheads="1"/>
            </p:cNvSpPr>
            <p:nvPr/>
          </p:nvSpPr>
          <p:spPr bwMode="auto">
            <a:xfrm>
              <a:off x="524655" y="2383435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1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1541463" y="374650"/>
            <a:ext cx="1428750" cy="5768975"/>
            <a:chOff x="1541473" y="374183"/>
            <a:chExt cx="1429077" cy="5769457"/>
          </a:xfrm>
        </p:grpSpPr>
        <p:grpSp>
          <p:nvGrpSpPr>
            <p:cNvPr id="8" name="Group 32"/>
            <p:cNvGrpSpPr>
              <a:grpSpLocks/>
            </p:cNvGrpSpPr>
            <p:nvPr/>
          </p:nvGrpSpPr>
          <p:grpSpPr bwMode="auto">
            <a:xfrm>
              <a:off x="1541473" y="374183"/>
              <a:ext cx="1271052" cy="5769457"/>
              <a:chOff x="1541473" y="374183"/>
              <a:chExt cx="1271052" cy="5769457"/>
            </a:xfrm>
          </p:grpSpPr>
          <p:pic>
            <p:nvPicPr>
              <p:cNvPr id="11302" name="Picture 13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428102" y="3116524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303" name="Picture 11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1773233" y="224164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304" name="Picture 12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1722021" y="5157802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305" name="Picture 14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584729" y="1697442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1301" name="TextBox 37"/>
            <p:cNvSpPr txBox="1">
              <a:spLocks noChangeArrowheads="1"/>
            </p:cNvSpPr>
            <p:nvPr/>
          </p:nvSpPr>
          <p:spPr bwMode="auto">
            <a:xfrm>
              <a:off x="2056150" y="796976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2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651250" y="104775"/>
            <a:ext cx="1600200" cy="6753225"/>
            <a:chOff x="3650772" y="104759"/>
            <a:chExt cx="1600781" cy="6753241"/>
          </a:xfrm>
        </p:grpSpPr>
        <p:grpSp>
          <p:nvGrpSpPr>
            <p:cNvPr id="10" name="Group 37"/>
            <p:cNvGrpSpPr>
              <a:grpSpLocks/>
            </p:cNvGrpSpPr>
            <p:nvPr/>
          </p:nvGrpSpPr>
          <p:grpSpPr bwMode="auto">
            <a:xfrm>
              <a:off x="3650772" y="104759"/>
              <a:ext cx="1138700" cy="6465927"/>
              <a:chOff x="3650772" y="104759"/>
              <a:chExt cx="1138700" cy="6465927"/>
            </a:xfrm>
          </p:grpSpPr>
          <p:pic>
            <p:nvPicPr>
              <p:cNvPr id="11296" name="Picture 18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3546023" y="3486486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97" name="Picture 15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3800791" y="1655399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98" name="Picture 16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3776082" y="104759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99" name="Picture 17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3561676" y="5342890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1295" name="TextBox 38"/>
            <p:cNvSpPr txBox="1">
              <a:spLocks noChangeArrowheads="1"/>
            </p:cNvSpPr>
            <p:nvPr/>
          </p:nvSpPr>
          <p:spPr bwMode="auto">
            <a:xfrm>
              <a:off x="4337153" y="5657671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3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Group 45"/>
          <p:cNvGrpSpPr>
            <a:grpSpLocks/>
          </p:cNvGrpSpPr>
          <p:nvPr/>
        </p:nvGrpSpPr>
        <p:grpSpPr bwMode="auto">
          <a:xfrm>
            <a:off x="5691188" y="0"/>
            <a:ext cx="1797050" cy="5967413"/>
            <a:chOff x="5691441" y="0"/>
            <a:chExt cx="1796144" cy="5967474"/>
          </a:xfrm>
        </p:grpSpPr>
        <p:grpSp>
          <p:nvGrpSpPr>
            <p:cNvPr id="12" name="Group 38"/>
            <p:cNvGrpSpPr>
              <a:grpSpLocks/>
            </p:cNvGrpSpPr>
            <p:nvPr/>
          </p:nvGrpSpPr>
          <p:grpSpPr bwMode="auto">
            <a:xfrm>
              <a:off x="5691441" y="0"/>
              <a:ext cx="1130078" cy="5967474"/>
              <a:chOff x="5481579" y="42152"/>
              <a:chExt cx="1130078" cy="5967474"/>
            </a:xfrm>
          </p:grpSpPr>
          <p:pic>
            <p:nvPicPr>
              <p:cNvPr id="11290" name="Picture 21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5383861" y="2011927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91" name="Picture 22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5368208" y="155523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92" name="Picture 19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5689203" y="5173807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93" name="Picture 20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5664494" y="3623167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1289" name="TextBox 39"/>
            <p:cNvSpPr txBox="1">
              <a:spLocks noChangeArrowheads="1"/>
            </p:cNvSpPr>
            <p:nvPr/>
          </p:nvSpPr>
          <p:spPr bwMode="auto">
            <a:xfrm>
              <a:off x="6573185" y="4580877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4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7805738" y="104775"/>
            <a:ext cx="1692275" cy="6465888"/>
            <a:chOff x="7805276" y="104759"/>
            <a:chExt cx="1693489" cy="6465927"/>
          </a:xfrm>
        </p:grpSpPr>
        <p:grpSp>
          <p:nvGrpSpPr>
            <p:cNvPr id="14" name="Group 39"/>
            <p:cNvGrpSpPr>
              <a:grpSpLocks/>
            </p:cNvGrpSpPr>
            <p:nvPr/>
          </p:nvGrpSpPr>
          <p:grpSpPr bwMode="auto">
            <a:xfrm>
              <a:off x="7805276" y="104759"/>
              <a:ext cx="1297725" cy="6465927"/>
              <a:chOff x="7805276" y="104759"/>
              <a:chExt cx="1297725" cy="6465927"/>
            </a:xfrm>
          </p:grpSpPr>
          <p:pic>
            <p:nvPicPr>
              <p:cNvPr id="11284" name="Picture 23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7955295" y="3537208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85" name="Picture 24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8089611" y="104759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86" name="Picture 25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7875205" y="5342890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87" name="Picture 26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7780039" y="1472156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1283" name="TextBox 40"/>
            <p:cNvSpPr txBox="1">
              <a:spLocks noChangeArrowheads="1"/>
            </p:cNvSpPr>
            <p:nvPr/>
          </p:nvSpPr>
          <p:spPr bwMode="auto">
            <a:xfrm>
              <a:off x="8584365" y="4553395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5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15" name="Group 48"/>
          <p:cNvGrpSpPr>
            <a:grpSpLocks/>
          </p:cNvGrpSpPr>
          <p:nvPr/>
        </p:nvGrpSpPr>
        <p:grpSpPr bwMode="auto">
          <a:xfrm>
            <a:off x="10006013" y="201613"/>
            <a:ext cx="1878012" cy="5781675"/>
            <a:chOff x="10006534" y="201178"/>
            <a:chExt cx="1878165" cy="5781991"/>
          </a:xfrm>
        </p:grpSpPr>
        <p:grpSp>
          <p:nvGrpSpPr>
            <p:cNvPr id="16" name="Group 41"/>
            <p:cNvGrpSpPr>
              <a:grpSpLocks/>
            </p:cNvGrpSpPr>
            <p:nvPr/>
          </p:nvGrpSpPr>
          <p:grpSpPr bwMode="auto">
            <a:xfrm>
              <a:off x="10006534" y="201178"/>
              <a:ext cx="1234266" cy="5781991"/>
              <a:chOff x="10006534" y="201178"/>
              <a:chExt cx="1234266" cy="5781991"/>
            </a:xfrm>
          </p:grpSpPr>
          <p:pic>
            <p:nvPicPr>
              <p:cNvPr id="11278" name="Picture 27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10175009" y="5147350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9" name="Picture 28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10415334" y="1834172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80" name="Picture 29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9893163" y="3427954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81" name="Picture 30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0013004" y="314549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1277" name="TextBox 41"/>
            <p:cNvSpPr txBox="1">
              <a:spLocks noChangeArrowheads="1"/>
            </p:cNvSpPr>
            <p:nvPr/>
          </p:nvSpPr>
          <p:spPr bwMode="auto">
            <a:xfrm>
              <a:off x="10970299" y="4271081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6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2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7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8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6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Saturday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SwamiG Institute                                                                           $</a:t>
            </a:r>
            <a:r>
              <a:rPr lang="en-US" dirty="0" err="1" smtClean="0"/>
              <a:t>DrSwamiG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2413" y="6356350"/>
            <a:ext cx="348138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Heru</a:t>
            </a:r>
            <a:r>
              <a:rPr lang="en-US" dirty="0"/>
              <a:t>(-)</a:t>
            </a:r>
            <a:r>
              <a:rPr lang="en-US" dirty="0" err="1"/>
              <a:t>Obara</a:t>
            </a:r>
            <a:r>
              <a:rPr lang="en-US" dirty="0"/>
              <a:t>/ </a:t>
            </a:r>
            <a:r>
              <a:rPr lang="en-US" dirty="0" err="1"/>
              <a:t>Maat</a:t>
            </a:r>
            <a:r>
              <a:rPr lang="en-US" dirty="0"/>
              <a:t>(+) </a:t>
            </a:r>
            <a:r>
              <a:rPr lang="en-US" dirty="0" err="1"/>
              <a:t>Osa</a:t>
            </a:r>
            <a:r>
              <a:rPr lang="en-US" dirty="0"/>
              <a:t> </a:t>
            </a:r>
            <a:fld id="{ECD3D6AB-F6B8-4F54-B15F-D1C321E34F07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77813" y="39688"/>
            <a:ext cx="1138237" cy="6616700"/>
            <a:chOff x="278136" y="40191"/>
            <a:chExt cx="1138700" cy="6616631"/>
          </a:xfrm>
        </p:grpSpPr>
        <p:pic>
          <p:nvPicPr>
            <p:cNvPr id="12320" name="Picture 6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428155" y="1741535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21" name="Picture 8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496211" y="3418766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22" name="Picture 9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9040" y="542902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23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73388" y="15356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541463" y="374650"/>
            <a:ext cx="1271587" cy="5768975"/>
            <a:chOff x="1541473" y="374183"/>
            <a:chExt cx="1271052" cy="5769457"/>
          </a:xfrm>
        </p:grpSpPr>
        <p:pic>
          <p:nvPicPr>
            <p:cNvPr id="12316" name="Picture 1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428102" y="311652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7" name="Picture 11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773233" y="224164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8" name="Picture 12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722021" y="515780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9" name="Picture 14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584729" y="169744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651250" y="104775"/>
            <a:ext cx="1138238" cy="6465888"/>
            <a:chOff x="3650772" y="104759"/>
            <a:chExt cx="1138700" cy="6465927"/>
          </a:xfrm>
        </p:grpSpPr>
        <p:pic>
          <p:nvPicPr>
            <p:cNvPr id="12312" name="Picture 18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46023" y="348648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3" name="Picture 15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3800791" y="165539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4" name="Picture 16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3776082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5" name="Picture 17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61676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481638" y="42863"/>
            <a:ext cx="1130300" cy="5967412"/>
            <a:chOff x="5481579" y="42152"/>
            <a:chExt cx="1130078" cy="5967474"/>
          </a:xfrm>
        </p:grpSpPr>
        <p:pic>
          <p:nvPicPr>
            <p:cNvPr id="12308" name="Picture 2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83861" y="2011927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9" name="Picture 22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68208" y="155523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0" name="Picture 19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5689203" y="517380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1" name="Picture 20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5664494" y="362316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7805738" y="104775"/>
            <a:ext cx="1296987" cy="6465888"/>
            <a:chOff x="7805276" y="104759"/>
            <a:chExt cx="1297725" cy="6465927"/>
          </a:xfrm>
        </p:grpSpPr>
        <p:pic>
          <p:nvPicPr>
            <p:cNvPr id="12304" name="Picture 23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7955295" y="3537208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5" name="Picture 24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8089611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6" name="Picture 25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875205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7" name="Picture 2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780039" y="147215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10006013" y="201613"/>
            <a:ext cx="1235075" cy="5781675"/>
            <a:chOff x="10006534" y="201178"/>
            <a:chExt cx="1234266" cy="5781991"/>
          </a:xfrm>
        </p:grpSpPr>
        <p:pic>
          <p:nvPicPr>
            <p:cNvPr id="12300" name="Picture 27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0175009" y="5147350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1" name="Picture 28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0415334" y="183417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2" name="Picture 29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9893163" y="342795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3" name="Picture 3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013004" y="314549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2368550" y="1603375"/>
            <a:ext cx="7974013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800" b="1">
                <a:solidFill>
                  <a:srgbClr val="FF0000"/>
                </a:solidFill>
                <a:latin typeface="Calibri" pitchFamily="34" charset="0"/>
              </a:rPr>
              <a:t>Definitely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1" dur="2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16April2025- Wednesday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SwamiG Institute                                                                           $DrSwamiG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C4E0A-7360-4E54-91CF-B6CB267688A5}" type="slidenum">
              <a:rPr lang="en-US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77813" y="39688"/>
            <a:ext cx="1138237" cy="6616700"/>
            <a:chOff x="278136" y="40191"/>
            <a:chExt cx="1138700" cy="6616631"/>
          </a:xfrm>
        </p:grpSpPr>
        <p:pic>
          <p:nvPicPr>
            <p:cNvPr id="13344" name="Picture 8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428155" y="1741535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5" name="Picture 9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496211" y="3418766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6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9040" y="542902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7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73388" y="15356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541463" y="374650"/>
            <a:ext cx="1271587" cy="5768975"/>
            <a:chOff x="1541473" y="374183"/>
            <a:chExt cx="1271052" cy="5769457"/>
          </a:xfrm>
        </p:grpSpPr>
        <p:pic>
          <p:nvPicPr>
            <p:cNvPr id="13340" name="Picture 1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428102" y="311652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1" name="Picture 14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773233" y="224164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2" name="Picture 15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722021" y="515780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3" name="Picture 1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584729" y="169744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651250" y="104775"/>
            <a:ext cx="1138238" cy="6465888"/>
            <a:chOff x="3650772" y="104759"/>
            <a:chExt cx="1138700" cy="6465927"/>
          </a:xfrm>
        </p:grpSpPr>
        <p:pic>
          <p:nvPicPr>
            <p:cNvPr id="13336" name="Picture 18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46023" y="348648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7" name="Picture 19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3800791" y="165539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8" name="Picture 20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3776082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9" name="Picture 2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61676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691188" y="0"/>
            <a:ext cx="1130300" cy="5967413"/>
            <a:chOff x="5481579" y="42152"/>
            <a:chExt cx="1130078" cy="5967474"/>
          </a:xfrm>
        </p:grpSpPr>
        <p:pic>
          <p:nvPicPr>
            <p:cNvPr id="13332" name="Picture 2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83861" y="2011927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3" name="Picture 24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68208" y="155523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4" name="Picture 25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5689203" y="517380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5" name="Picture 26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5664494" y="362316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7805738" y="104775"/>
            <a:ext cx="1296987" cy="6465888"/>
            <a:chOff x="7805276" y="104759"/>
            <a:chExt cx="1297725" cy="6465927"/>
          </a:xfrm>
        </p:grpSpPr>
        <p:pic>
          <p:nvPicPr>
            <p:cNvPr id="13328" name="Picture 28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7955295" y="3537208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9" name="Picture 29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8089611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0" name="Picture 3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875205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31" name="Picture 3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780039" y="147215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10006013" y="201613"/>
            <a:ext cx="1235075" cy="5781675"/>
            <a:chOff x="10006534" y="201178"/>
            <a:chExt cx="1234266" cy="5781991"/>
          </a:xfrm>
        </p:grpSpPr>
        <p:pic>
          <p:nvPicPr>
            <p:cNvPr id="13324" name="Picture 33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0175009" y="5147350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5" name="Picture 34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0415334" y="183417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6" name="Picture 35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9893163" y="342795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7" name="Picture 3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013004" y="314549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368550" y="1603375"/>
            <a:ext cx="7974013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800" b="1">
                <a:solidFill>
                  <a:srgbClr val="FF0000"/>
                </a:solidFill>
                <a:latin typeface="Calibri" pitchFamily="34" charset="0"/>
              </a:rPr>
              <a:t>Definitely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31" dur="2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Saturday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SwamiG Institute                                                                           $</a:t>
            </a:r>
            <a:r>
              <a:rPr lang="en-US" dirty="0" err="1" smtClean="0"/>
              <a:t>DrSwamiG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2413" y="6356350"/>
            <a:ext cx="348138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Heru</a:t>
            </a:r>
            <a:r>
              <a:rPr lang="en-US" dirty="0"/>
              <a:t>(-)</a:t>
            </a:r>
            <a:r>
              <a:rPr lang="en-US" dirty="0" err="1"/>
              <a:t>Obara</a:t>
            </a:r>
            <a:r>
              <a:rPr lang="en-US" dirty="0"/>
              <a:t>/ </a:t>
            </a:r>
            <a:r>
              <a:rPr lang="en-US" dirty="0" err="1"/>
              <a:t>Maat</a:t>
            </a:r>
            <a:r>
              <a:rPr lang="en-US" dirty="0"/>
              <a:t>(+) </a:t>
            </a:r>
            <a:r>
              <a:rPr lang="en-US" dirty="0" err="1"/>
              <a:t>Osa</a:t>
            </a:r>
            <a:r>
              <a:rPr lang="en-US" dirty="0"/>
              <a:t> </a:t>
            </a:r>
            <a:fld id="{0A19AD81-A604-4FB0-AF23-C128366D3CDD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 rot="-1626166">
            <a:off x="-244475" y="1957388"/>
            <a:ext cx="1136967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 b="1">
                <a:solidFill>
                  <a:srgbClr val="00B0F0"/>
                </a:solidFill>
                <a:latin typeface="Calibri" pitchFamily="34" charset="0"/>
              </a:rPr>
              <a:t>Where is the Wisdom coming from?</a:t>
            </a:r>
            <a:endParaRPr lang="en-US" sz="2400" b="1">
              <a:solidFill>
                <a:srgbClr val="00B0F0"/>
              </a:solidFill>
              <a:latin typeface="Calibri" pitchFamily="34" charset="0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77813" y="39688"/>
            <a:ext cx="1160462" cy="6616700"/>
            <a:chOff x="278136" y="40191"/>
            <a:chExt cx="1160919" cy="6616631"/>
          </a:xfrm>
        </p:grpSpPr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278136" y="40191"/>
              <a:ext cx="1138700" cy="6616631"/>
              <a:chOff x="278136" y="40191"/>
              <a:chExt cx="1138700" cy="6616631"/>
            </a:xfrm>
          </p:grpSpPr>
          <p:pic>
            <p:nvPicPr>
              <p:cNvPr id="14380" name="Picture 6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428155" y="1741535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81" name="Picture 8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496211" y="3418766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82" name="Picture 9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89040" y="5429026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83" name="Picture 10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73388" y="153562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379" name="TextBox 36"/>
            <p:cNvSpPr txBox="1">
              <a:spLocks noChangeArrowheads="1"/>
            </p:cNvSpPr>
            <p:nvPr/>
          </p:nvSpPr>
          <p:spPr bwMode="auto">
            <a:xfrm>
              <a:off x="524655" y="2383435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1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1541463" y="374650"/>
            <a:ext cx="1428750" cy="5768975"/>
            <a:chOff x="1541473" y="374183"/>
            <a:chExt cx="1429077" cy="5769457"/>
          </a:xfrm>
        </p:grpSpPr>
        <p:grpSp>
          <p:nvGrpSpPr>
            <p:cNvPr id="8" name="Group 32"/>
            <p:cNvGrpSpPr>
              <a:grpSpLocks/>
            </p:cNvGrpSpPr>
            <p:nvPr/>
          </p:nvGrpSpPr>
          <p:grpSpPr bwMode="auto">
            <a:xfrm>
              <a:off x="1541473" y="374183"/>
              <a:ext cx="1271052" cy="5769457"/>
              <a:chOff x="1541473" y="374183"/>
              <a:chExt cx="1271052" cy="5769457"/>
            </a:xfrm>
          </p:grpSpPr>
          <p:pic>
            <p:nvPicPr>
              <p:cNvPr id="14374" name="Picture 13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428102" y="3116524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75" name="Picture 11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1773233" y="224164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76" name="Picture 12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1722021" y="5157802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77" name="Picture 14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584729" y="1697442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373" name="TextBox 37"/>
            <p:cNvSpPr txBox="1">
              <a:spLocks noChangeArrowheads="1"/>
            </p:cNvSpPr>
            <p:nvPr/>
          </p:nvSpPr>
          <p:spPr bwMode="auto">
            <a:xfrm>
              <a:off x="2056150" y="796976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2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651250" y="104775"/>
            <a:ext cx="1600200" cy="6753225"/>
            <a:chOff x="3650772" y="104759"/>
            <a:chExt cx="1600781" cy="6753241"/>
          </a:xfrm>
        </p:grpSpPr>
        <p:grpSp>
          <p:nvGrpSpPr>
            <p:cNvPr id="10" name="Group 37"/>
            <p:cNvGrpSpPr>
              <a:grpSpLocks/>
            </p:cNvGrpSpPr>
            <p:nvPr/>
          </p:nvGrpSpPr>
          <p:grpSpPr bwMode="auto">
            <a:xfrm>
              <a:off x="3650772" y="104759"/>
              <a:ext cx="1138700" cy="6465927"/>
              <a:chOff x="3650772" y="104759"/>
              <a:chExt cx="1138700" cy="6465927"/>
            </a:xfrm>
          </p:grpSpPr>
          <p:pic>
            <p:nvPicPr>
              <p:cNvPr id="14368" name="Picture 18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3546023" y="3486486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69" name="Picture 15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3800791" y="1655399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70" name="Picture 16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3776082" y="104759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71" name="Picture 17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3561676" y="5342890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367" name="TextBox 38"/>
            <p:cNvSpPr txBox="1">
              <a:spLocks noChangeArrowheads="1"/>
            </p:cNvSpPr>
            <p:nvPr/>
          </p:nvSpPr>
          <p:spPr bwMode="auto">
            <a:xfrm>
              <a:off x="4337153" y="5657671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3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Group 45"/>
          <p:cNvGrpSpPr>
            <a:grpSpLocks/>
          </p:cNvGrpSpPr>
          <p:nvPr/>
        </p:nvGrpSpPr>
        <p:grpSpPr bwMode="auto">
          <a:xfrm>
            <a:off x="5691188" y="0"/>
            <a:ext cx="1797050" cy="5967413"/>
            <a:chOff x="5691441" y="0"/>
            <a:chExt cx="1796144" cy="5967474"/>
          </a:xfrm>
        </p:grpSpPr>
        <p:grpSp>
          <p:nvGrpSpPr>
            <p:cNvPr id="12" name="Group 38"/>
            <p:cNvGrpSpPr>
              <a:grpSpLocks/>
            </p:cNvGrpSpPr>
            <p:nvPr/>
          </p:nvGrpSpPr>
          <p:grpSpPr bwMode="auto">
            <a:xfrm>
              <a:off x="5691441" y="0"/>
              <a:ext cx="1130078" cy="5967474"/>
              <a:chOff x="5481579" y="42152"/>
              <a:chExt cx="1130078" cy="5967474"/>
            </a:xfrm>
          </p:grpSpPr>
          <p:pic>
            <p:nvPicPr>
              <p:cNvPr id="14362" name="Picture 21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5383861" y="2011927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63" name="Picture 22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5368208" y="155523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64" name="Picture 19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5689203" y="5173807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65" name="Picture 20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5664494" y="3623167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361" name="TextBox 39"/>
            <p:cNvSpPr txBox="1">
              <a:spLocks noChangeArrowheads="1"/>
            </p:cNvSpPr>
            <p:nvPr/>
          </p:nvSpPr>
          <p:spPr bwMode="auto">
            <a:xfrm>
              <a:off x="6573185" y="4580877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4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7805738" y="104775"/>
            <a:ext cx="1692275" cy="6465888"/>
            <a:chOff x="7805276" y="104759"/>
            <a:chExt cx="1693489" cy="6465927"/>
          </a:xfrm>
        </p:grpSpPr>
        <p:grpSp>
          <p:nvGrpSpPr>
            <p:cNvPr id="14" name="Group 39"/>
            <p:cNvGrpSpPr>
              <a:grpSpLocks/>
            </p:cNvGrpSpPr>
            <p:nvPr/>
          </p:nvGrpSpPr>
          <p:grpSpPr bwMode="auto">
            <a:xfrm>
              <a:off x="7805276" y="104759"/>
              <a:ext cx="1297725" cy="6465927"/>
              <a:chOff x="7805276" y="104759"/>
              <a:chExt cx="1297725" cy="6465927"/>
            </a:xfrm>
          </p:grpSpPr>
          <p:pic>
            <p:nvPicPr>
              <p:cNvPr id="14356" name="Picture 23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7955295" y="3537208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57" name="Picture 24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8089611" y="104759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58" name="Picture 25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7875205" y="5342890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59" name="Picture 26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7780039" y="1472156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355" name="TextBox 40"/>
            <p:cNvSpPr txBox="1">
              <a:spLocks noChangeArrowheads="1"/>
            </p:cNvSpPr>
            <p:nvPr/>
          </p:nvSpPr>
          <p:spPr bwMode="auto">
            <a:xfrm>
              <a:off x="8584365" y="4553395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5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  <p:grpSp>
        <p:nvGrpSpPr>
          <p:cNvPr id="15" name="Group 48"/>
          <p:cNvGrpSpPr>
            <a:grpSpLocks/>
          </p:cNvGrpSpPr>
          <p:nvPr/>
        </p:nvGrpSpPr>
        <p:grpSpPr bwMode="auto">
          <a:xfrm>
            <a:off x="10006013" y="201613"/>
            <a:ext cx="1878012" cy="5781675"/>
            <a:chOff x="10006534" y="201178"/>
            <a:chExt cx="1878165" cy="5781991"/>
          </a:xfrm>
        </p:grpSpPr>
        <p:grpSp>
          <p:nvGrpSpPr>
            <p:cNvPr id="16" name="Group 41"/>
            <p:cNvGrpSpPr>
              <a:grpSpLocks/>
            </p:cNvGrpSpPr>
            <p:nvPr/>
          </p:nvGrpSpPr>
          <p:grpSpPr bwMode="auto">
            <a:xfrm>
              <a:off x="10006534" y="201178"/>
              <a:ext cx="1234266" cy="5781991"/>
              <a:chOff x="10006534" y="201178"/>
              <a:chExt cx="1234266" cy="5781991"/>
            </a:xfrm>
          </p:grpSpPr>
          <p:pic>
            <p:nvPicPr>
              <p:cNvPr id="14350" name="Picture 27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10175009" y="5147350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51" name="Picture 28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10415334" y="1834172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52" name="Picture 29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9893163" y="3427954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353" name="Picture 30" descr="cowry_female_Ipori_ibi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-2960499">
                <a:off x="10013004" y="314549"/>
                <a:ext cx="1341167" cy="1114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4349" name="TextBox 41"/>
            <p:cNvSpPr txBox="1">
              <a:spLocks noChangeArrowheads="1"/>
            </p:cNvSpPr>
            <p:nvPr/>
          </p:nvSpPr>
          <p:spPr bwMode="auto">
            <a:xfrm>
              <a:off x="10970299" y="4271081"/>
              <a:ext cx="914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7200">
                  <a:solidFill>
                    <a:srgbClr val="00B0F0"/>
                  </a:solidFill>
                  <a:latin typeface="Calibri" pitchFamily="34" charset="0"/>
                </a:rPr>
                <a:t>6</a:t>
              </a:r>
              <a:endParaRPr lang="en-US">
                <a:solidFill>
                  <a:srgbClr val="00B0F0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16April2025- Wednesday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SwamiG Institute                                                                           $DrSwamiG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550C5-685D-47AA-9656-6A52875818E8}" type="slidenum">
              <a:rPr lang="en-US"/>
              <a:pPr>
                <a:defRPr/>
              </a:pPr>
              <a:t>20</a:t>
            </a:fld>
            <a:endParaRPr 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77813" y="830263"/>
            <a:ext cx="1093787" cy="5087937"/>
            <a:chOff x="278136" y="829764"/>
            <a:chExt cx="1093268" cy="5088830"/>
          </a:xfrm>
        </p:grpSpPr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278136" y="3405544"/>
              <a:ext cx="985838" cy="2513050"/>
              <a:chOff x="278136" y="1891554"/>
              <a:chExt cx="985838" cy="2513050"/>
            </a:xfrm>
          </p:grpSpPr>
          <p:pic>
            <p:nvPicPr>
              <p:cNvPr id="15374" name="Picture 7" descr="cowry_male_ipori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rot="3504235">
                <a:off x="428155" y="1741535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75" name="Picture 8" descr="cowry_male_ipori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rot="1758560">
                <a:off x="496211" y="3418766"/>
                <a:ext cx="685800" cy="985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5372" name="Picture 11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535585" y="679745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3" name="Picture 12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438751" y="1967236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366" name="TextBox 14"/>
          <p:cNvSpPr txBox="1">
            <a:spLocks noChangeArrowheads="1"/>
          </p:cNvSpPr>
          <p:nvPr/>
        </p:nvSpPr>
        <p:spPr bwMode="auto">
          <a:xfrm>
            <a:off x="2713038" y="-120650"/>
            <a:ext cx="707548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000">
                <a:solidFill>
                  <a:srgbClr val="00B0F0"/>
                </a:solidFill>
                <a:latin typeface="Calibri" pitchFamily="34" charset="0"/>
              </a:rPr>
              <a:t>Summary so far</a:t>
            </a:r>
            <a:endParaRPr lang="en-US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724025" y="1035050"/>
            <a:ext cx="8259763" cy="132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>
                <a:solidFill>
                  <a:srgbClr val="FFC000"/>
                </a:solidFill>
                <a:latin typeface="Calibri" pitchFamily="34" charset="0"/>
              </a:rPr>
              <a:t>All up= yes=Alafia</a:t>
            </a:r>
            <a:endParaRPr lang="en-US">
              <a:solidFill>
                <a:srgbClr val="FFC000"/>
              </a:solidFill>
              <a:latin typeface="Calibri" pitchFamily="34" charset="0"/>
            </a:endParaRPr>
          </a:p>
        </p:txBody>
      </p:sp>
      <p:pic>
        <p:nvPicPr>
          <p:cNvPr id="17" name="Picture 16" descr="cowry_female_Ipori_ib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-2960499">
            <a:off x="9692482" y="573881"/>
            <a:ext cx="1341438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873250" y="1244600"/>
            <a:ext cx="8656638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600" b="1">
                <a:solidFill>
                  <a:srgbClr val="00B050"/>
                </a:solidFill>
                <a:latin typeface="Calibri" pitchFamily="34" charset="0"/>
              </a:rPr>
              <a:t>Probably-</a:t>
            </a:r>
            <a:r>
              <a:rPr lang="en-US" sz="9600">
                <a:solidFill>
                  <a:srgbClr val="00B050"/>
                </a:solidFill>
                <a:latin typeface="Calibri" pitchFamily="34" charset="0"/>
              </a:rPr>
              <a:t> </a:t>
            </a:r>
            <a:r>
              <a:rPr lang="en-US" sz="7200">
                <a:solidFill>
                  <a:srgbClr val="00B050"/>
                </a:solidFill>
                <a:latin typeface="Calibri" pitchFamily="34" charset="0"/>
              </a:rPr>
              <a:t>Yes BUT!</a:t>
            </a:r>
          </a:p>
          <a:p>
            <a:r>
              <a:rPr lang="en-US" sz="7200">
                <a:solidFill>
                  <a:srgbClr val="00B050"/>
                </a:solidFill>
                <a:latin typeface="Calibri" pitchFamily="34" charset="0"/>
              </a:rPr>
              <a:t>Etawa</a:t>
            </a:r>
            <a:endParaRPr lang="en-US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327400" y="4467225"/>
            <a:ext cx="5381625" cy="369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Calibri" pitchFamily="34" charset="0"/>
              </a:rPr>
              <a:t>Rephrase the question, cast again that is your answer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repeatCount="200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6391E-6 7.80347E-6 C -0.00078 0.00949 -0.00078 0.01943 -0.00247 0.02845 C -0.00859 0.06105 -0.02787 0.07538 -0.04311 0.08972 C -0.04598 0.09249 -0.04858 0.09642 -0.05171 0.09827 C -0.05809 0.1022 -0.07138 0.10706 -0.07138 0.10706 C -0.09105 0.10567 -0.11098 0.10775 -0.13039 0.10267 C -0.13351 0.10174 -0.13429 0.09388 -0.13651 0.08972 C -0.13885 0.08509 -0.14393 0.07654 -0.14393 0.07654 C -0.1468 0.06382 -0.15227 0.05434 -0.15865 0.04602 C -0.16425 0.03099 -0.16972 0.03793 -0.1808 0.03931 C -0.19265 0.06821 -0.20594 0.09527 -0.21896 0.12232 C -0.22118 0.12694 -0.2243 0.13041 -0.22626 0.1355 C -0.23668 0.16162 -0.24058 0.19469 -0.25087 0.22058 C -0.26494 0.25596 -0.28487 0.27399 -0.30376 0.2992 C -0.30702 0.30359 -0.31001 0.30891 -0.31366 0.31238 C -0.31626 0.31492 -0.31952 0.31492 -0.32226 0.31677 C -0.32564 0.31908 -0.32877 0.32301 -0.33216 0.32532 C -0.33789 0.32926 -0.34453 0.32926 -0.35052 0.33203 C -0.36238 0.32902 -0.37501 0.3311 -0.38621 0.32324 C -0.38999 0.3207 -0.38882 0.30937 -0.39116 0.30359 C -0.39781 0.28648 -0.40549 0.27076 -0.41331 0.2555 C -0.41826 0.24579 -0.42464 0.23793 -0.4292 0.22706 C -0.43233 0.21943 -0.43793 0.20324 -0.43793 0.20324 C -0.44236 0.16972 -0.44548 0.13642 -0.449 0.10267 C -0.44613 0.08949 -0.44418 0.07561 -0.44027 0.06336 C -0.4348 0.04671 -0.42477 0.03631 -0.41696 0.02405 C -0.40171 -0.00022 -0.41305 0.01272 -0.39611 -0.00855 C -0.39377 -0.01155 -0.38087 -0.02566 -0.37762 -0.0282 C -0.3728 -0.03167 -0.3629 -0.03699 -0.3629 -0.03699 C -0.35013 -0.0356 -0.33737 -0.03583 -0.32473 -0.03259 C -0.32226 -0.0319 -0.31809 -0.02219 -0.31613 -0.01965 C -0.31379 -0.01641 -0.30871 -0.01086 -0.30871 -0.01086 C -0.30246 0.00602 -0.30246 0.02151 -0.30129 0.04162 C -0.30207 0.10197 -0.30259 0.16255 -0.30376 0.2229 C -0.30389 0.23053 -0.30545 0.2296 -0.30871 0.23122 C -0.3091 0.23376 -0.30975 0.23584 -0.31001 0.23816 C -0.31092 0.24671 -0.31092 0.25596 -0.31236 0.26428 C -0.3164 0.28764 -0.32538 0.30683 -0.33216 0.32764 C -0.34127 0.35538 -0.34948 0.38243 -0.36042 0.40833 C -0.36355 0.41573 -0.36889 0.41943 -0.37267 0.4259 C -0.381 0.44047 -0.39051 0.45804 -0.40224 0.4629 C -0.40666 0.46683 -0.41122 0.47053 -0.41578 0.47376 C -0.41813 0.47538 -0.42308 0.47816 -0.42308 0.47816 C -0.45069 0.47353 -0.46124 0.48879 -0.46867 0.45203 C -0.46828 0.4303 -0.46919 0.4081 -0.46737 0.3866 C -0.46711 0.3829 -0.46411 0.38197 -0.46242 0.37989 C -0.45681 0.37319 -0.45108 0.36995 -0.44522 0.36463 C -0.42777 0.34914 -0.40067 0.33573 -0.38126 0.33203 C -0.35508 0.31608 -0.33489 0.31631 -0.30623 0.31446 C -0.24475 0.32024 -0.21336 0.28024 -0.20046 0.36463 C -0.20086 0.3866 -0.19929 0.40879 -0.20177 0.4303 C -0.20242 0.43561 -0.21779 0.45018 -0.22144 0.45411 C -0.25244 0.48856 -0.28435 0.51561 -0.32108 0.52417 C -0.35547 0.52186 -0.38999 0.52093 -0.42438 0.51746 C -0.42972 0.517 -0.43871 0.50498 -0.44275 0.50012 C -0.44705 0.49504 -0.45265 0.49434 -0.4576 0.49134 C -0.46854 0.48486 -0.47661 0.46752 -0.48703 0.4585 C -0.49798 0.44879 -0.50214 0.44556 -0.51296 0.43446 C -0.52507 0.42197 -0.53653 0.40509 -0.54982 0.39746 C -0.54643 0.34567 -0.54513 0.29342 -0.53875 0.24255 C -0.53145 0.18382 -0.52116 0.12602 -0.51296 0.06775 C -0.51165 0.04417 -0.50762 0.02313 -0.50553 7.80347E-6 C -0.50722 -0.00647 -0.50788 -0.0141 -0.51048 -0.01965 C -0.51335 -0.02543 -0.5265 -0.0356 -0.53015 -0.0393 C -0.5407 -0.04994 -0.54982 -0.06011 -0.56206 -0.06311 C -0.58121 -0.07444 -0.58004 -0.07537 -0.61378 -0.06543 C -0.62107 -0.06335 -0.6225 -0.04022 -0.62732 -0.03491 C -0.63371 -0.0282 -0.64204 -0.03213 -0.64947 -0.03051 C -0.66718 -0.0178 -0.68711 -0.00739 -0.706 -0.00207 C -0.71382 0.00255 -0.72137 0.00741 -0.72932 0.0111 C -0.76931 0.00879 -0.75954 0.02521 -0.76996 0.00671 " pathEditMode="relative" ptsTypes="ffffffffffffffffffffffffffffffffffffffffffffffffffffffffffffffffffffffA">
                                      <p:cBhvr>
                                        <p:cTn id="24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4578 C -0.00039 0.05318 -0.00078 0.06104 -0.00286 0.06775 C -0.01771 0.11237 -0.05458 0.14937 -0.08467 0.15399 C -0.09965 0.15122 -0.11554 0.15422 -0.12961 0.1459 C -0.13521 0.14266 -0.13612 0.12972 -0.13951 0.12185 C -0.14433 0.10983 -0.14771 0.09688 -0.15644 0.0918 C -0.15436 0.11654 -0.15644 0.11723 -0.15019 0.13388 C -0.14576 0.14613 -0.14758 0.13896 -0.14055 0.14798 C -0.11697 0.17873 -0.08831 0.17989 -0.05888 0.18197 C -0.04194 0.18058 -0.02488 0.18081 -0.00794 0.17781 C -0.00651 0.17781 -0.01003 0.17411 -0.01146 0.17388 C -0.01758 0.17318 -0.02384 0.17526 -0.0297 0.17596 C -0.02931 0.17711 -0.01954 0.20995 -0.01758 0.17596 C -0.01328 0.10266 -0.00716 0.11052 -0.02592 0.09781 C -0.03673 0.0992 -0.04741 0.0985 -0.05783 0.10197 C -0.06799 0.10521 -0.07086 0.11815 -0.07841 0.12787 C -0.0891 0.14151 -0.1016 0.1533 -0.11267 0.16602 C -0.11736 0.17156 -0.12036 0.17896 -0.12609 0.18197 C -0.09913 0.21526 -0.04559 0.16278 -0.02592 0.2081 C 0.08076 0.45341 -0.10642 0.39376 -0.14419 0.39446 C -0.13469 0.42243 -0.12856 0.42359 -0.1102 0.43261 C -0.08584 0.44463 -0.06044 0.45711 -0.03595 0.46659 C -0.04728 0.46844 -0.05874 0.46867 -0.06995 0.47261 C -0.0818 0.47654 -0.08688 0.49642 -0.09782 0.50081 C -0.12127 0.51029 -0.14576 0.51145 -0.16986 0.51654 C -0.20477 0.53457 -0.23746 0.54914 -0.27328 0.55862 C -0.32656 0.55677 -0.37983 0.55561 -0.43285 0.55261 C -0.47961 0.55052 -0.54305 0.52209 -0.55946 0.44047 C -0.55868 0.4185 -0.55946 0.39607 -0.55699 0.37457 C -0.55647 0.37018 -0.55295 0.36948 -0.55099 0.36648 C -0.54357 0.35538 -0.53667 0.34498 -0.53028 0.33226 C -0.51035 0.24 -0.53224 0.34451 -0.51947 0.27422 C -0.51674 0.26012 -0.511 0.23214 -0.511 0.23214 C -0.51035 0.22243 -0.50788 0.21133 -0.50957 0.20209 C -0.52455 0.20555 -0.54031 0.2037 -0.55451 0.21203 C -0.55959 0.21503 -0.56076 0.22636 -0.56324 0.23422 C -0.57145 0.26035 -0.57978 0.30451 -0.58525 0.32833 C -0.58747 0.3392 -0.59033 0.3496 -0.59255 0.36047 C -0.59528 0.37503 -0.60088 0.4044 -0.60088 0.40463 C -0.6018 0.41318 -0.60466 0.43677 -0.60948 0.44255 C -0.61091 0.4444 -0.61274 0.44393 -0.6143 0.44463 C -0.62667 0.4407 -0.62928 0.43029 -0.63749 0.41457 C -0.6526 0.38683 -0.66771 0.36047 -0.68125 0.33041 C -0.68425 0.3237 -0.68738 0.31769 -0.68985 0.31029 C -0.69193 0.30451 -0.6935 0.29781 -0.69597 0.29226 C -0.69949 0.28393 -0.70809 0.26821 -0.70809 0.26844 C -0.71121 0.24833 -0.71564 0.23006 -0.71786 0.20995 C -0.71864 0.19469 -0.71655 0.17804 -0.72033 0.16393 C -0.7215 0.15954 -0.72645 0.16486 -0.7288 0.16787 C -0.73088 0.17064 -0.73088 0.17642 -0.73245 0.18012 C -0.73375 0.18313 -0.73583 0.18544 -0.7374 0.18821 C -0.73896 0.19122 -0.74078 0.19446 -0.74221 0.19815 C -0.74769 0.21156 -0.7499 0.22683 -0.7568 0.23815 C -0.76254 0.23029 -0.76696 0.22382 -0.77139 0.21411 C -0.77387 0.20879 -0.77517 0.20116 -0.77869 0.19815 C -0.78168 0.19584 -0.78429 0.19237 -0.78728 0.19006 C -0.78846 0.18914 -0.7908 0.18821 -0.7908 0.18821 " pathEditMode="relative" rAng="0" ptsTypes="ffffffffffffffffffffffffffffffffffffffffffffffffffffffffA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6" y="2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repeatCount="indefinite" accel="50000" decel="50000" autoRev="1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0469E-6 8.72832E-6 C -0.03764 0.00139 -0.07555 0.00139 -0.11306 0.0044 C -0.13507 0.00625 -0.15748 0.01758 -0.17962 0.02174 C -0.20906 0.04925 -0.23863 0.07446 -0.26924 0.09827 C -0.28552 0.11099 -0.30467 0.13064 -0.32213 0.13758 C -0.34492 0.1466 -0.32955 0.14081 -0.36889 0.15284 C -0.39664 0.16995 -0.42308 0.19515 -0.45134 0.20949 C -0.48612 0.22706 -0.52103 0.237 -0.55581 0.25758 C -0.57144 0.26683 -0.60388 0.28717 -0.6186 0.28787 C -0.63827 0.28879 -0.65794 0.28972 -0.6776 0.29041 C -0.68294 0.29249 -0.68816 0.2955 -0.69363 0.29665 C -0.7232 0.30359 -0.70926 0.29087 -0.72306 0.30567 C -0.73466 0.34336 -0.75263 0.3755 -0.76983 0.40602 C -0.78038 0.42475 -0.77321 0.41157 -0.78337 0.42128 C -0.78598 0.42382 -0.78832 0.42706 -0.7908 0.43006 C -0.79197 0.43145 -0.79588 0.43515 -0.79445 0.43446 C -0.79327 0.43376 -0.79197 0.43307 -0.7908 0.43238 C -0.78728 0.42613 -0.78377 0.4222 -0.7809 0.4148 C -0.77999 0.40787 -0.77882 0.38475 -0.77595 0.37989 C -0.77504 0.37827 -0.77348 0.3785 -0.7723 0.37781 C -0.77113 0.37642 -0.76866 0.37342 -0.76866 0.37342 " pathEditMode="relative" ptsTypes="ffffffffffffffffffffA">
                                      <p:cBhvr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85255E-6 5.66474E-6 C -0.02956 0.0007 -0.05913 -0.00069 -0.08857 0.00209 C -0.09013 0.00232 -0.09104 0.00602 -0.09104 0.00879 C -0.09144 0.03215 -0.09183 0.0555 -0.08987 0.07862 C -0.08961 0.08163 -0.08662 0.08047 -0.08492 0.0807 C -0.05314 0.08579 -0.04142 0.08556 -0.00859 0.08741 C -0.00325 0.0881 0.00209 0.08833 0.0073 0.08949 C 0.01355 0.09088 0.0142 0.09827 0.01837 0.10475 C 0.0202 0.10752 0.02254 0.10914 0.02463 0.11122 C 0.0258 0.11423 0.02697 0.11723 0.02827 0.12001 C 0.02984 0.12325 0.03179 0.12556 0.03322 0.12879 C 0.03726 0.13827 0.03804 0.15238 0.03934 0.16371 C 0.03856 0.18544 0.03882 0.20764 0.03687 0.22914 C 0.03674 0.2303 0.03101 0.23238 0.02827 0.23353 C 0.02007 0.237 0.01212 0.23839 0.00365 0.24001 C -0.0082 0.23955 -0.02018 0.24047 -0.03204 0.23793 C -0.03334 0.23747 -0.03334 0.23377 -0.03321 0.23122 C -0.03295 0.22521 -0.03243 0.21897 -0.03073 0.21388 C -0.0293 0.20926 -0.01133 0.2051 -0.01107 0.2051 C 0.00118 0.20556 0.01407 0.2007 0.0258 0.20741 C 0.02931 0.20949 0.02762 0.22036 0.02697 0.22683 C 0.02528 0.24486 0.02358 0.24695 0.0159 0.25088 C -0.00885 0.26405 -0.08271 0.25712 -0.09222 0.25758 C -0.09482 0.30498 -0.09977 0.35215 -0.09469 0.39955 C -0.09404 0.40486 -0.08974 0.40695 -0.0874 0.4081 C -0.0857 0.41041 -0.08401 0.41249 -0.08245 0.41481 C -0.07984 0.41897 -0.07502 0.42775 -0.07502 0.42775 C -0.0775 0.43307 -0.07867 0.44255 -0.08245 0.44301 C -0.09599 0.44463 -0.13976 0.44625 -0.15748 0.4192 C -0.19421 0.36325 -0.2256 0.32116 -0.24853 0.24232 C -0.25582 0.21712 -0.26286 0.18822 -0.26937 0.1614 C -0.27119 0.15446 -0.27015 0.14244 -0.27432 0.13966 C -0.27979 0.13596 -0.28578 0.13666 -0.29151 0.13527 C -0.30519 0.12394 -0.31665 0.11307 -0.32968 0.10036 C -0.34166 0.08856 -0.35612 0.08602 -0.36902 0.07862 C -0.37306 0.07377 -0.37722 0.0703 -0.38126 0.06544 C -0.40184 0.10174 -0.38243 0.17249 -0.36785 0.20949 C -0.36589 0.21434 -0.36264 0.21758 -0.36042 0.22267 C -0.34518 0.25712 -0.36198 0.22614 -0.34935 0.25088 C -0.34792 0.25388 -0.34622 0.25712 -0.3444 0.25966 C -0.34297 0.26151 -0.33945 0.26082 -0.33945 0.26405 C -0.33945 0.26706 -0.34271 0.26267 -0.3444 0.26174 C -0.3556 0.25064 -0.36615 0.24163 -0.37892 0.23793 C -0.38921 0.24001 -0.40419 0.22891 -0.40966 0.2444 C -0.44522 0.34313 -0.39416 0.35654 -0.42933 0.34267 C -0.4503 0.32186 -0.47166 0.30197 -0.49198 0.27955 C -0.50019 0.2703 -0.51074 0.2703 -0.52025 0.26614 C -0.5351 0.24833 -0.54995 0.2303 -0.56454 0.21157 C -0.57496 0.19862 -0.57457 0.194 -0.58434 0.17897 C -0.59241 0.16648 -0.60062 0.15423 -0.60883 0.14197 C -0.6324 0.1066 -0.65611 0.07215 -0.67656 0.03053 C -0.69063 0.00209 -0.70535 -0.02427 -0.71955 -0.05248 C -0.72658 -0.06635 -0.73283 -0.08115 -0.74299 -0.08739 C -0.74742 -0.0867 -0.75224 -0.08785 -0.75641 -0.08508 C -0.75732 -0.08438 -0.7624 -0.06034 -0.76266 -0.05895 C -0.76553 -0.04554 -0.76917 -0.03282 -0.77243 -0.01964 C -0.77438 -0.01201 -0.77465 -0.00346 -0.77621 0.0044 C -0.7779 0.02706 -0.77829 0.03816 -0.77738 0.06336 C -0.78611 0.08625 -0.77217 0.05319 -0.80812 0.07192 C -0.8106 0.07307 -0.80851 0.08093 -0.80942 0.0851 C -0.81307 0.10128 -0.82258 0.11908 -0.82909 0.13319 C -0.83248 0.15215 -0.83964 0.16602 -0.84381 0.18544 C -0.84681 0.19885 -0.84915 0.21666 -0.85358 0.22914 C -0.85319 0.23353 -0.85423 0.23885 -0.85241 0.24232 C -0.85059 0.24556 -0.84759 0.24325 -0.84499 0.2444 C -0.84329 0.24486 -0.84186 0.24625 -0.8403 0.24648 C -0.83404 0.24764 -0.82779 0.24787 -0.82167 0.24879 C -0.79848 0.25619 -0.77386 0.25943 -0.75029 0.26174 C -0.74742 0.26359 -0.74416 0.26359 -0.74182 0.26614 C -0.72658 0.28371 -0.74013 0.2777 -0.72567 0.28163 C -0.72254 0.28556 -0.71876 0.2881 -0.7159 0.29249 C -0.71434 0.29481 -0.71368 0.29874 -0.71225 0.30128 C -0.70821 0.30845 -0.70444 0.31215 -0.70118 0.32093 C -0.69818 0.3459 -0.69753 0.34637 -0.70235 0.38637 C -0.70326 0.394 -0.71394 0.39723 -0.71707 0.39955 C -0.73557 0.41203 -0.75224 0.41851 -0.77243 0.42128 C -0.77621 0.42244 -0.78116 0.42012 -0.7835 0.42567 C -0.7878 0.43492 -0.79028 0.44695 -0.79457 0.45619 C -0.80604 0.4807 -0.79614 0.45735 -0.80447 0.48232 C -0.80812 0.49319 -0.81307 0.50036 -0.81672 0.51076 C -0.81776 0.51353 -0.81828 0.51677 -0.81919 0.51955 C -0.81998 0.52163 -0.82089 0.52394 -0.82167 0.52602 C -0.82089 0.55215 -0.8218 0.57897 -0.81919 0.60463 C -0.81828 0.61319 -0.79952 0.61712 -0.79588 0.61758 C -0.77282 0.62868 -0.734 0.62082 -0.7159 0.61989 C -0.71447 0.61481 -0.71225 0.60995 -0.71095 0.60463 C -0.70991 0.60024 -0.70847 0.59145 -0.70847 0.59145 C -0.70769 0.58267 -0.70691 0.57411 -0.706 0.56533 C -0.70561 0.5614 -0.70483 0.55446 -0.70483 0.55446 C -0.70535 0.49596 -0.68412 0.42382 -0.71707 0.41249 C -0.7245 0.41342 -0.73283 0.4081 -0.73921 0.41481 C -0.74273 0.41851 -0.74013 0.42937 -0.74065 0.43654 C -0.74143 0.44972 -0.74299 0.46313 -0.74534 0.47585 C -0.7469 0.49434 -0.75081 0.5103 -0.75406 0.5281 C -0.75719 0.54521 -0.75901 0.56325 -0.76136 0.58059 C -0.76058 0.59099 -0.76162 0.60232 -0.75888 0.61111 C -0.75706 0.61712 -0.75263 0.61943 -0.74911 0.62197 C -0.73778 0.63076 -0.72319 0.62868 -0.71095 0.63076 C -0.68385 0.6296 -0.65663 0.63238 -0.6298 0.62637 C -0.62602 0.62544 -0.62511 0.61596 -0.62237 0.61111 C -0.61807 0.60394 -0.61338 0.59816 -0.60883 0.59145 C -0.60322 0.58336 -0.59971 0.56949 -0.59424 0.56093 C -0.58225 0.54359 -0.56597 0.52972 -0.55229 0.51723 C -0.53796 0.50475 -0.5252 0.49226 -0.50931 0.48671 C -0.49003 0.48903 -0.47049 0.48741 -0.45147 0.49319 C -0.44691 0.49481 -0.44418 0.50359 -0.4404 0.50868 C -0.43766 0.51238 -0.4318 0.51955 -0.4318 0.51955 C -0.4262 0.49157 -0.43415 0.45943 -0.44288 0.43654 C -0.44522 0.42336 -0.44991 0.41411 -0.45264 0.40163 C -0.45447 0.39284 -0.4559 0.38429 -0.45759 0.3755 C -0.45877 0.36903 -0.46215 0.36417 -0.46372 0.35793 C -0.47518 0.31261 -0.4912 0.27076 -0.508 0.23122 C -0.51243 0.22105 -0.51361 0.21411 -0.51908 0.2051 C -0.52702 0.19168 -0.53914 0.17666 -0.54982 0.17249 C -0.55659 0.16417 -0.56649 0.16348 -0.57444 0.1614 C -0.58668 0.16232 -0.59906 0.16116 -0.6113 0.16371 C -0.6212 0.16556 -0.63553 0.20209 -0.64087 0.21157 C -0.65103 0.2296 -0.65767 0.2518 -0.66549 0.27284 C -0.66731 0.2777 -0.66992 0.28116 -0.67161 0.28602 C -0.67773 0.3029 -0.68255 0.32163 -0.6888 0.33827 C -0.69271 0.34891 -0.69792 0.35723 -0.70118 0.36903 C -0.706 0.38614 -0.7086 0.4044 -0.71342 0.42128 C -0.71538 0.43538 -0.7172 0.44972 -0.72085 0.46267 C -0.72202 0.47377 -0.72228 0.48186 -0.72567 0.49111 C -0.72853 0.5103 -0.7327 0.52486 -0.73804 0.54128 C -0.74065 0.54937 -0.74547 0.56972 -0.74911 0.57619 C -0.75068 0.57897 -0.75914 0.59816 -0.76136 0.60024 C -0.76357 0.60278 -0.76878 0.60463 -0.76878 0.60463 C -0.77478 0.61157 -0.771 0.60903 -0.78103 0.60903 " pathEditMode="relative" ptsTypes="ffffffffffffffffffffffffffffffffffffffffffffffffffffffffffffffffffffffffffffffffffffffffffffffffffffffffffffffffffffffffffffffffA">
                                      <p:cBhvr>
                                        <p:cTn id="4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 animBg="1"/>
      <p:bldP spid="2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16April2025- Wednesday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SwamiG Institute                                                                           $DrSwamiG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B7ECD1-A076-41B1-B600-5EDCD5EC984B}" type="slidenum">
              <a:rPr lang="en-US"/>
              <a:pPr>
                <a:defRPr/>
              </a:pPr>
              <a:t>21</a:t>
            </a:fld>
            <a:endParaRPr lang="en-US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77813" y="39688"/>
            <a:ext cx="1138237" cy="6616700"/>
            <a:chOff x="278136" y="40191"/>
            <a:chExt cx="1138700" cy="6616631"/>
          </a:xfrm>
        </p:grpSpPr>
        <p:pic>
          <p:nvPicPr>
            <p:cNvPr id="16416" name="Picture 8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428155" y="1741535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7" name="Picture 9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496211" y="3418766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8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9040" y="542902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9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73388" y="15356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541463" y="374650"/>
            <a:ext cx="1271587" cy="5768975"/>
            <a:chOff x="1541473" y="374183"/>
            <a:chExt cx="1271052" cy="5769457"/>
          </a:xfrm>
        </p:grpSpPr>
        <p:pic>
          <p:nvPicPr>
            <p:cNvPr id="16412" name="Picture 1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428102" y="311652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3" name="Picture 14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773233" y="224164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4" name="Picture 15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722021" y="515780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5" name="Picture 1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584729" y="1697442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651250" y="104775"/>
            <a:ext cx="1138238" cy="6465888"/>
            <a:chOff x="3650772" y="104759"/>
            <a:chExt cx="1138700" cy="6465927"/>
          </a:xfrm>
        </p:grpSpPr>
        <p:pic>
          <p:nvPicPr>
            <p:cNvPr id="16408" name="Picture 18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46023" y="348648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9" name="Picture 19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3800791" y="165539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0" name="Picture 20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3776082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11" name="Picture 2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561676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691188" y="0"/>
            <a:ext cx="1130300" cy="5967413"/>
            <a:chOff x="5481579" y="42152"/>
            <a:chExt cx="1130078" cy="5967474"/>
          </a:xfrm>
        </p:grpSpPr>
        <p:pic>
          <p:nvPicPr>
            <p:cNvPr id="16404" name="Picture 23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83861" y="2011927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5" name="Picture 24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368208" y="155523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6" name="Picture 25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5689203" y="517380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7" name="Picture 26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5664494" y="3623167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7805738" y="104775"/>
            <a:ext cx="1296987" cy="6465888"/>
            <a:chOff x="7805276" y="104759"/>
            <a:chExt cx="1297725" cy="6465927"/>
          </a:xfrm>
        </p:grpSpPr>
        <p:pic>
          <p:nvPicPr>
            <p:cNvPr id="16400" name="Picture 28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7955295" y="3537208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1" name="Picture 29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8089611" y="104759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2" name="Picture 3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875205" y="5342890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03" name="Picture 3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780039" y="1472156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10006013" y="201613"/>
            <a:ext cx="1235075" cy="5781675"/>
            <a:chOff x="10006534" y="201178"/>
            <a:chExt cx="1234266" cy="5781991"/>
          </a:xfrm>
        </p:grpSpPr>
        <p:pic>
          <p:nvPicPr>
            <p:cNvPr id="16396" name="Picture 33" descr="cowry_male_ipori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3504235">
              <a:off x="10175009" y="5147350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7" name="Picture 34" descr="cowry_male_ipor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1758560">
              <a:off x="10415334" y="1834172"/>
              <a:ext cx="685800" cy="985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8" name="Picture 35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9893163" y="3427954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9" name="Picture 36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013004" y="314549"/>
              <a:ext cx="1341167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368550" y="1603375"/>
            <a:ext cx="7974013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800" b="1">
                <a:solidFill>
                  <a:srgbClr val="FF0000"/>
                </a:solidFill>
                <a:latin typeface="Calibri" pitchFamily="34" charset="0"/>
              </a:rPr>
              <a:t>Definitely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31" dur="2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19April2025- </a:t>
            </a:r>
            <a:r>
              <a:rPr lang="en-US" dirty="0"/>
              <a:t>Wednesday</a:t>
            </a:r>
          </a:p>
        </p:txBody>
      </p:sp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1788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9DB82-7A56-42BB-BD32-8CF8FFBC3EC0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17413" name="TextBox 6"/>
          <p:cNvSpPr txBox="1">
            <a:spLocks noChangeArrowheads="1"/>
          </p:cNvSpPr>
          <p:nvPr/>
        </p:nvSpPr>
        <p:spPr bwMode="auto">
          <a:xfrm>
            <a:off x="209550" y="0"/>
            <a:ext cx="11739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3/4</a:t>
            </a:r>
          </a:p>
        </p:txBody>
      </p:sp>
      <p:pic>
        <p:nvPicPr>
          <p:cNvPr id="17414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0" y="6189663"/>
            <a:ext cx="531813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39913" y="184150"/>
            <a:ext cx="8142287" cy="18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11500"/>
              <a:t>Ilekes 2025 </a:t>
            </a:r>
            <a:endParaRPr lang="en-US" altLang="en-US" sz="800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663" y="2419350"/>
            <a:ext cx="11380787" cy="307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4400">
                <a:solidFill>
                  <a:srgbClr val="FF0000"/>
                </a:solidFill>
              </a:rPr>
              <a:t>Four</a:t>
            </a:r>
            <a:r>
              <a:rPr lang="en-US" altLang="en-US" sz="4400"/>
              <a:t> Cowrie Divination Session Agenda</a:t>
            </a:r>
            <a:endParaRPr lang="en-US" altLang="en-US" sz="4800"/>
          </a:p>
          <a:p>
            <a:pPr eaLnBrk="0" hangingPunct="0"/>
            <a:r>
              <a:rPr lang="en-US" altLang="en-US" sz="4400"/>
              <a:t>All sessions @ 130pm-230 est</a:t>
            </a:r>
          </a:p>
          <a:p>
            <a:pPr eaLnBrk="0" hangingPunct="0"/>
            <a:endParaRPr lang="en-US" altLang="en-US" sz="4400"/>
          </a:p>
          <a:p>
            <a:pPr eaLnBrk="0" hangingPunct="0"/>
            <a:endParaRPr lang="en-US" altLang="en-US" sz="4400"/>
          </a:p>
          <a:p>
            <a:pPr eaLnBrk="0" hangingPunct="0"/>
            <a:r>
              <a:rPr lang="en-US" altLang="en-US">
                <a:hlinkClick r:id="rId3"/>
              </a:rPr>
              <a:t>https://us06web.zoom.us/j/9768449070?pwd=yYH4FZwxpTmacos1aa4VF87bJaNGaR.1&amp;omn=84109758758</a:t>
            </a:r>
            <a:endParaRPr lang="en-US" altLang="en-US" sz="32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87413" y="4097338"/>
            <a:ext cx="98329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5400"/>
              <a:t>Wed—</a:t>
            </a:r>
            <a:r>
              <a:rPr lang="en-US" altLang="en-US" sz="6600"/>
              <a:t>Sat</a:t>
            </a:r>
            <a:r>
              <a:rPr lang="en-US" altLang="en-US" sz="5400"/>
              <a:t>—</a:t>
            </a:r>
            <a:r>
              <a:rPr lang="en-US" altLang="en-US" sz="5400" b="1">
                <a:solidFill>
                  <a:srgbClr val="FF0000"/>
                </a:solidFill>
              </a:rPr>
              <a:t>Sun</a:t>
            </a:r>
            <a:r>
              <a:rPr lang="en-US" altLang="en-US" sz="5400"/>
              <a:t>--Wed</a:t>
            </a:r>
          </a:p>
          <a:p>
            <a:r>
              <a:rPr lang="en-US" sz="5400">
                <a:latin typeface="Calibri" pitchFamily="34" charset="0"/>
              </a:rPr>
              <a:t>    1         </a:t>
            </a:r>
            <a:r>
              <a:rPr lang="en-US" sz="7200">
                <a:latin typeface="Calibri" pitchFamily="34" charset="0"/>
              </a:rPr>
              <a:t>2</a:t>
            </a:r>
            <a:r>
              <a:rPr lang="en-US" sz="5400">
                <a:latin typeface="Calibri" pitchFamily="34" charset="0"/>
              </a:rPr>
              <a:t>          </a:t>
            </a:r>
            <a:r>
              <a:rPr lang="en-US" sz="5400" b="1">
                <a:solidFill>
                  <a:srgbClr val="FF0000"/>
                </a:solidFill>
                <a:latin typeface="Calibri" pitchFamily="34" charset="0"/>
              </a:rPr>
              <a:t>3</a:t>
            </a:r>
            <a:r>
              <a:rPr lang="en-US" sz="5400">
                <a:latin typeface="Calibri" pitchFamily="34" charset="0"/>
              </a:rPr>
              <a:t>         4</a:t>
            </a:r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19April2025- Wednesday</a:t>
            </a:r>
          </a:p>
        </p:txBody>
      </p:sp>
      <p:sp>
        <p:nvSpPr>
          <p:cNvPr id="5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4231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smtClean="0"/>
              <a:t>SwamiG </a:t>
            </a:r>
            <a:r>
              <a:rPr lang="en-US" dirty="0"/>
              <a:t>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62C175-1474-445A-97C4-0C78E077E367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09552" y="1"/>
            <a:ext cx="11739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3/4</a:t>
            </a:r>
          </a:p>
        </p:txBody>
      </p:sp>
      <p:pic>
        <p:nvPicPr>
          <p:cNvPr id="2054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1" y="6189663"/>
            <a:ext cx="531284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39384" y="184150"/>
            <a:ext cx="7217617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11500">
                <a:latin typeface="Calibri" pitchFamily="34" charset="0"/>
              </a:rPr>
              <a:t>Ilekes 2025 </a:t>
            </a:r>
            <a:endParaRPr lang="en-US" altLang="en-US" sz="8000">
              <a:latin typeface="Calibri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134" y="2419350"/>
            <a:ext cx="9128846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4400">
                <a:solidFill>
                  <a:srgbClr val="FF0000"/>
                </a:solidFill>
                <a:latin typeface="Calibri" pitchFamily="34" charset="0"/>
              </a:rPr>
              <a:t>Four</a:t>
            </a:r>
            <a:r>
              <a:rPr lang="en-US" altLang="en-US" sz="4400">
                <a:latin typeface="Calibri" pitchFamily="34" charset="0"/>
              </a:rPr>
              <a:t> Cowrie Divination Session Agenda</a:t>
            </a:r>
            <a:endParaRPr lang="en-US" altLang="en-US" sz="4800">
              <a:latin typeface="Calibri" pitchFamily="34" charset="0"/>
            </a:endParaRPr>
          </a:p>
          <a:p>
            <a:pPr eaLnBrk="0" hangingPunct="0"/>
            <a:r>
              <a:rPr lang="en-US" altLang="en-US" sz="4400">
                <a:latin typeface="Calibri" pitchFamily="34" charset="0"/>
              </a:rPr>
              <a:t>All sessions @ 130pm-230 est</a:t>
            </a:r>
          </a:p>
          <a:p>
            <a:pPr eaLnBrk="0" hangingPunct="0"/>
            <a:endParaRPr lang="en-US" altLang="en-US" sz="4400">
              <a:latin typeface="Calibri" pitchFamily="34" charset="0"/>
            </a:endParaRPr>
          </a:p>
          <a:p>
            <a:pPr eaLnBrk="0" hangingPunct="0"/>
            <a:endParaRPr lang="en-US" altLang="en-US" sz="4400">
              <a:latin typeface="Calibri" pitchFamily="34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86885" y="4097338"/>
            <a:ext cx="9834033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5400">
                <a:latin typeface="Calibri" pitchFamily="34" charset="0"/>
              </a:rPr>
              <a:t>Wed—</a:t>
            </a:r>
            <a:r>
              <a:rPr lang="en-US" altLang="en-US" sz="6600">
                <a:latin typeface="Calibri" pitchFamily="34" charset="0"/>
              </a:rPr>
              <a:t>Sat</a:t>
            </a:r>
            <a:r>
              <a:rPr lang="en-US" altLang="en-US" sz="5400">
                <a:latin typeface="Calibri" pitchFamily="34" charset="0"/>
              </a:rPr>
              <a:t>—</a:t>
            </a:r>
            <a:r>
              <a:rPr lang="en-US" altLang="en-US" sz="5400" b="1">
                <a:solidFill>
                  <a:srgbClr val="FF0000"/>
                </a:solidFill>
                <a:latin typeface="Calibri" pitchFamily="34" charset="0"/>
              </a:rPr>
              <a:t>Sun</a:t>
            </a:r>
            <a:r>
              <a:rPr lang="en-US" altLang="en-US" sz="5400">
                <a:latin typeface="Calibri" pitchFamily="34" charset="0"/>
              </a:rPr>
              <a:t>--Wed</a:t>
            </a:r>
          </a:p>
          <a:p>
            <a:r>
              <a:rPr lang="en-US" sz="5400">
                <a:latin typeface="Calibri" pitchFamily="34" charset="0"/>
              </a:rPr>
              <a:t>    1         </a:t>
            </a:r>
            <a:r>
              <a:rPr lang="en-US" sz="7200">
                <a:latin typeface="Calibri" pitchFamily="34" charset="0"/>
              </a:rPr>
              <a:t>2</a:t>
            </a:r>
            <a:r>
              <a:rPr lang="en-US" sz="5400">
                <a:latin typeface="Calibri" pitchFamily="34" charset="0"/>
              </a:rPr>
              <a:t>          </a:t>
            </a:r>
            <a:r>
              <a:rPr lang="en-US" sz="5400" b="1">
                <a:solidFill>
                  <a:srgbClr val="FF0000"/>
                </a:solidFill>
                <a:latin typeface="Calibri" pitchFamily="34" charset="0"/>
              </a:rPr>
              <a:t>3</a:t>
            </a:r>
            <a:r>
              <a:rPr lang="en-US" sz="5400">
                <a:latin typeface="Calibri" pitchFamily="34" charset="0"/>
              </a:rPr>
              <a:t>         4</a:t>
            </a:r>
            <a:endParaRPr lang="en-US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20305335">
            <a:off x="1104787" y="3009792"/>
            <a:ext cx="9364358" cy="646331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Should Uncle </a:t>
            </a:r>
            <a:r>
              <a:rPr lang="en-US" sz="36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Awo</a:t>
            </a:r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36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Tyroneye</a:t>
            </a:r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’ fix my cars brakes?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0" grpId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20April2025- Sunday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1885" y="6356351"/>
            <a:ext cx="3481916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Sekert</a:t>
            </a:r>
            <a:r>
              <a:rPr lang="en-US" dirty="0"/>
              <a:t>(+) </a:t>
            </a:r>
            <a:r>
              <a:rPr lang="en-US" dirty="0" err="1"/>
              <a:t>Ogunda</a:t>
            </a:r>
            <a:r>
              <a:rPr lang="en-US" dirty="0"/>
              <a:t> </a:t>
            </a:r>
            <a:fld id="{A9F579EC-1696-4491-B67C-B88B01FF3627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209552" y="1"/>
            <a:ext cx="11739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3/4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302685" y="628650"/>
            <a:ext cx="1113367" cy="6027738"/>
            <a:chOff x="302079" y="629064"/>
            <a:chExt cx="1114363" cy="6027324"/>
          </a:xfrm>
        </p:grpSpPr>
        <p:pic>
          <p:nvPicPr>
            <p:cNvPr id="3111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88474" y="542881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12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88865" y="2313396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13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88864" y="408373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14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518017" y="629064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TextBox 16"/>
          <p:cNvSpPr txBox="1"/>
          <p:nvPr/>
        </p:nvSpPr>
        <p:spPr>
          <a:xfrm>
            <a:off x="3604684" y="317500"/>
            <a:ext cx="1879041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+mn-lt"/>
                <a:cs typeface="+mn-cs"/>
              </a:rPr>
              <a:t>One Open</a:t>
            </a:r>
          </a:p>
        </p:txBody>
      </p:sp>
      <p:cxnSp>
        <p:nvCxnSpPr>
          <p:cNvPr id="19" name="Straight Arrow Connector 18"/>
          <p:cNvCxnSpPr>
            <a:stCxn id="17" idx="1"/>
          </p:cNvCxnSpPr>
          <p:nvPr/>
        </p:nvCxnSpPr>
        <p:spPr>
          <a:xfrm rot="10800000" flipV="1">
            <a:off x="768352" y="609888"/>
            <a:ext cx="2836332" cy="517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8375651" y="158750"/>
            <a:ext cx="1550424" cy="5847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Calibri" pitchFamily="34" charset="0"/>
              </a:rPr>
              <a:t>3 closed</a:t>
            </a:r>
            <a:endParaRPr lang="en-US">
              <a:latin typeface="Calibri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rot="10800000" flipV="1">
            <a:off x="1153585" y="661989"/>
            <a:ext cx="7486649" cy="2028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 flipV="1">
            <a:off x="967318" y="636589"/>
            <a:ext cx="7672916" cy="3444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0800000" flipV="1">
            <a:off x="994833" y="636588"/>
            <a:ext cx="7645400" cy="51546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1951568" y="457200"/>
            <a:ext cx="1234017" cy="6153150"/>
            <a:chOff x="1951955" y="457133"/>
            <a:chExt cx="1233633" cy="6152875"/>
          </a:xfrm>
        </p:grpSpPr>
        <p:pic>
          <p:nvPicPr>
            <p:cNvPr id="3107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838350" y="538243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8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958011" y="570738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9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838740" y="403735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10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2075127" y="2451242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64"/>
          <p:cNvGrpSpPr>
            <a:grpSpLocks/>
          </p:cNvGrpSpPr>
          <p:nvPr/>
        </p:nvGrpSpPr>
        <p:grpSpPr bwMode="auto">
          <a:xfrm>
            <a:off x="7736417" y="803276"/>
            <a:ext cx="1115483" cy="5853113"/>
            <a:chOff x="7736516" y="803447"/>
            <a:chExt cx="1114363" cy="5853525"/>
          </a:xfrm>
        </p:grpSpPr>
        <p:pic>
          <p:nvPicPr>
            <p:cNvPr id="3103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7622911" y="5429396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4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7623302" y="2313980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5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7623300" y="91705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6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7912698" y="3942692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10454218" y="769938"/>
            <a:ext cx="1435100" cy="5721350"/>
            <a:chOff x="10453614" y="769714"/>
            <a:chExt cx="1435917" cy="5721817"/>
          </a:xfrm>
        </p:grpSpPr>
        <p:pic>
          <p:nvPicPr>
            <p:cNvPr id="3099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661954" y="88331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0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340010" y="2485677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1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340009" y="4256020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02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0722171" y="5505866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9" name="TextBox 48"/>
          <p:cNvSpPr txBox="1">
            <a:spLocks noChangeArrowheads="1"/>
          </p:cNvSpPr>
          <p:nvPr/>
        </p:nvSpPr>
        <p:spPr bwMode="auto">
          <a:xfrm rot="-610307">
            <a:off x="-29633" y="1385888"/>
            <a:ext cx="11916833" cy="377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3900">
                <a:latin typeface="Calibri" pitchFamily="34" charset="0"/>
              </a:rPr>
              <a:t>Okana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3088" name="TextBox 49"/>
          <p:cNvSpPr txBox="1">
            <a:spLocks noChangeArrowheads="1"/>
          </p:cNvSpPr>
          <p:nvPr/>
        </p:nvSpPr>
        <p:spPr bwMode="auto">
          <a:xfrm>
            <a:off x="6220885" y="6488114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7948085" y="6488114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4603751" y="6488114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3091" name="TextBox 57"/>
          <p:cNvSpPr txBox="1">
            <a:spLocks noChangeArrowheads="1"/>
          </p:cNvSpPr>
          <p:nvPr/>
        </p:nvSpPr>
        <p:spPr bwMode="auto">
          <a:xfrm>
            <a:off x="3329518" y="6597650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573618" y="6488114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2163234" y="6488114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9268885" y="6042025"/>
            <a:ext cx="808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Calibri" pitchFamily="34" charset="0"/>
              </a:rPr>
              <a:t>Okana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 rot="-770478">
            <a:off x="-107950" y="1346201"/>
            <a:ext cx="12437535" cy="286226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Calibri" pitchFamily="34" charset="0"/>
              </a:rPr>
              <a:t>Doubtful- Very challenging, rephrase the question and re-cast to receive answer</a:t>
            </a:r>
          </a:p>
        </p:txBody>
      </p:sp>
      <p:sp>
        <p:nvSpPr>
          <p:cNvPr id="6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smtClean="0"/>
              <a:t>SwamiG </a:t>
            </a:r>
            <a:r>
              <a:rPr lang="en-US" dirty="0"/>
              <a:t>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pic>
        <p:nvPicPr>
          <p:cNvPr id="3097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51167" y="6129338"/>
            <a:ext cx="531284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TextBox 47"/>
          <p:cNvSpPr txBox="1"/>
          <p:nvPr/>
        </p:nvSpPr>
        <p:spPr>
          <a:xfrm>
            <a:off x="3657601" y="5410200"/>
            <a:ext cx="4816255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Should  Uncle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Awo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Tyroneye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’ fix my cars brakes?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 to="" calcmode="lin" valueType="num">
                                      <p:cBhvr>
                                        <p:cTn id="41" dur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6" presetID="4" presetClass="entr" presetSubtype="16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4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1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2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5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78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81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84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4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0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49" grpId="0"/>
      <p:bldP spid="49" grpId="1"/>
      <p:bldP spid="49" grpId="2"/>
      <p:bldP spid="51" grpId="0"/>
      <p:bldP spid="52" grpId="0"/>
      <p:bldP spid="59" grpId="0"/>
      <p:bldP spid="60" grpId="0"/>
      <p:bldP spid="61" grpId="0"/>
      <p:bldP spid="16" grpId="0" animBg="1"/>
      <p:bldP spid="1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20April2025- Sunday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1885" y="6356351"/>
            <a:ext cx="3481916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Sekert</a:t>
            </a:r>
            <a:r>
              <a:rPr lang="en-US" dirty="0"/>
              <a:t>(+) </a:t>
            </a:r>
            <a:r>
              <a:rPr lang="en-US" dirty="0" err="1"/>
              <a:t>Ogunda</a:t>
            </a:r>
            <a:r>
              <a:rPr lang="en-US" dirty="0"/>
              <a:t> </a:t>
            </a:r>
            <a:fld id="{8378E972-EF11-4F76-B3B0-9DCA494CEA10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209552" y="1"/>
            <a:ext cx="11739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3/4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smtClean="0"/>
              <a:t>SwamiG </a:t>
            </a:r>
            <a:r>
              <a:rPr lang="en-US" dirty="0"/>
              <a:t>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pic>
        <p:nvPicPr>
          <p:cNvPr id="4102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1251" y="5949951"/>
            <a:ext cx="531283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2685" y="628650"/>
            <a:ext cx="1113367" cy="6027738"/>
            <a:chOff x="302079" y="629064"/>
            <a:chExt cx="1114363" cy="6027324"/>
          </a:xfrm>
        </p:grpSpPr>
        <p:pic>
          <p:nvPicPr>
            <p:cNvPr id="4123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8474" y="542881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4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8865" y="2313396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5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8864" y="408373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6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518017" y="629064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951568" y="457200"/>
            <a:ext cx="1234017" cy="6153150"/>
            <a:chOff x="1951955" y="457133"/>
            <a:chExt cx="1233633" cy="6152875"/>
          </a:xfrm>
        </p:grpSpPr>
        <p:pic>
          <p:nvPicPr>
            <p:cNvPr id="4119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38350" y="538243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0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958011" y="570738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1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38740" y="403735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2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2075127" y="2451242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736417" y="803276"/>
            <a:ext cx="1115483" cy="5853113"/>
            <a:chOff x="7736516" y="803447"/>
            <a:chExt cx="1114363" cy="5853525"/>
          </a:xfrm>
        </p:grpSpPr>
        <p:pic>
          <p:nvPicPr>
            <p:cNvPr id="4115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622911" y="5429396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6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623302" y="2313980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7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623300" y="91705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8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7912698" y="3942692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10454218" y="769938"/>
            <a:ext cx="1435100" cy="5721350"/>
            <a:chOff x="10453614" y="769714"/>
            <a:chExt cx="1435917" cy="5721817"/>
          </a:xfrm>
        </p:grpSpPr>
        <p:pic>
          <p:nvPicPr>
            <p:cNvPr id="4111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661954" y="88331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2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340010" y="2485677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3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340009" y="4256020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4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10722171" y="5505866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492501" y="6070600"/>
            <a:ext cx="185843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1">
                <a:solidFill>
                  <a:srgbClr val="FF0000"/>
                </a:solidFill>
                <a:latin typeface="Calibri" pitchFamily="34" charset="0"/>
              </a:rPr>
              <a:t>Okana</a:t>
            </a:r>
            <a:endParaRPr lang="en-US" sz="3200" b="1" i="1">
              <a:latin typeface="Calibri" pitchFamily="34" charset="0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6688667" y="6048375"/>
            <a:ext cx="178011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1">
                <a:solidFill>
                  <a:srgbClr val="FF0000"/>
                </a:solidFill>
                <a:latin typeface="Calibri" pitchFamily="34" charset="0"/>
              </a:rPr>
              <a:t>Okana</a:t>
            </a:r>
            <a:endParaRPr lang="en-US" sz="3200" b="1" i="1">
              <a:latin typeface="Calibri" pitchFamily="34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 rot="-680216">
            <a:off x="16934" y="2128342"/>
            <a:ext cx="12016317" cy="923330"/>
          </a:xfrm>
          <a:prstGeom prst="rect">
            <a:avLst/>
          </a:prstGeom>
          <a:solidFill>
            <a:srgbClr val="92D050">
              <a:alpha val="5607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5400" b="1" i="1">
                <a:solidFill>
                  <a:srgbClr val="7030A0"/>
                </a:solidFill>
                <a:latin typeface="Calibri" pitchFamily="34" charset="0"/>
              </a:rPr>
              <a:t>How can a question be rephrased?</a:t>
            </a:r>
            <a:endParaRPr lang="en-US" b="1" i="1">
              <a:solidFill>
                <a:srgbClr val="7030A0"/>
              </a:solidFill>
              <a:latin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1" y="5410200"/>
            <a:ext cx="4168642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Should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Awo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Tyroneye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’ fix my cars brakes?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8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9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20April2025- Sunday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1885" y="6356351"/>
            <a:ext cx="3481916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Sekert</a:t>
            </a:r>
            <a:r>
              <a:rPr lang="en-US" dirty="0"/>
              <a:t>(+) </a:t>
            </a:r>
            <a:r>
              <a:rPr lang="en-US" dirty="0" err="1"/>
              <a:t>Ogunda</a:t>
            </a:r>
            <a:r>
              <a:rPr lang="en-US" dirty="0"/>
              <a:t> </a:t>
            </a:r>
            <a:fld id="{860A4DC8-CAC4-4A16-82BB-73578918CAAD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124" name="TextBox 6"/>
          <p:cNvSpPr txBox="1">
            <a:spLocks noChangeArrowheads="1"/>
          </p:cNvSpPr>
          <p:nvPr/>
        </p:nvSpPr>
        <p:spPr bwMode="auto">
          <a:xfrm>
            <a:off x="209552" y="1"/>
            <a:ext cx="11739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Four Cowrie Divination Zoom Session Agenda                                              3/4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6492876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SwamiG </a:t>
            </a:r>
            <a:r>
              <a:rPr lang="en-US" dirty="0"/>
              <a:t>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pic>
        <p:nvPicPr>
          <p:cNvPr id="5126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1251" y="5949951"/>
            <a:ext cx="531283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10117" y="433388"/>
          <a:ext cx="10583057" cy="228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471"/>
                <a:gridCol w="2116611"/>
                <a:gridCol w="2320433"/>
                <a:gridCol w="2081771"/>
                <a:gridCol w="2081771"/>
              </a:tblGrid>
              <a:tr h="26150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 Up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3up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 up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 Up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 Up</a:t>
                      </a:r>
                      <a:endParaRPr lang="en-US" sz="1400" dirty="0"/>
                    </a:p>
                  </a:txBody>
                  <a:tcPr/>
                </a:tc>
              </a:tr>
              <a:tr h="261502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Alafia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 smtClean="0"/>
                        <a:t>Etawa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 smtClean="0"/>
                        <a:t>Ejife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 smtClean="0"/>
                        <a:t>Okana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Wednesday</a:t>
                      </a:r>
                      <a:endParaRPr lang="en-US" sz="1400" b="1" dirty="0"/>
                    </a:p>
                  </a:txBody>
                  <a:tcPr/>
                </a:tc>
              </a:tr>
              <a:tr h="261502">
                <a:tc>
                  <a:txBody>
                    <a:bodyPr/>
                    <a:lstStyle/>
                    <a:p>
                      <a:r>
                        <a:rPr lang="en-US" sz="1400" i="1" dirty="0" smtClean="0"/>
                        <a:t>Yes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smtClean="0"/>
                        <a:t>Probably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smtClean="0"/>
                        <a:t>Definitely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smtClean="0"/>
                        <a:t>Doubt-No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smtClean="0"/>
                        <a:t>Wednesday</a:t>
                      </a:r>
                      <a:endParaRPr lang="en-US" sz="1400" i="1" dirty="0"/>
                    </a:p>
                  </a:txBody>
                  <a:tcPr/>
                </a:tc>
              </a:tr>
              <a:tr h="45762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With a blessing</a:t>
                      </a:r>
                      <a:endParaRPr 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smtClean="0">
                          <a:solidFill>
                            <a:srgbClr val="FF0000"/>
                          </a:solidFill>
                        </a:rPr>
                        <a:t>Rephrase</a:t>
                      </a:r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400" b="1" i="1" dirty="0" smtClean="0">
                          <a:solidFill>
                            <a:srgbClr val="FF0000"/>
                          </a:solidFill>
                        </a:rPr>
                        <a:t>Cast again</a:t>
                      </a:r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Wisdom</a:t>
                      </a:r>
                      <a:r>
                        <a:rPr lang="en-US" sz="1400" baseline="0" dirty="0" smtClean="0"/>
                        <a:t> after lessons</a:t>
                      </a:r>
                      <a:endParaRPr 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smtClean="0">
                          <a:solidFill>
                            <a:srgbClr val="FF0000"/>
                          </a:solidFill>
                        </a:rPr>
                        <a:t>Rephrase</a:t>
                      </a:r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400" b="1" dirty="0" smtClean="0">
                          <a:solidFill>
                            <a:srgbClr val="FF0000"/>
                          </a:solidFill>
                        </a:rPr>
                        <a:t>Cast again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Wednesday</a:t>
                      </a:r>
                      <a:endParaRPr lang="en-US" sz="1400" dirty="0"/>
                    </a:p>
                  </a:txBody>
                  <a:tcPr/>
                </a:tc>
              </a:tr>
              <a:tr h="45762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This is the answer</a:t>
                      </a:r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This is the answer</a:t>
                      </a:r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Wednesday</a:t>
                      </a:r>
                      <a:endParaRPr lang="en-US" sz="1400" dirty="0"/>
                    </a:p>
                  </a:txBody>
                  <a:tcPr/>
                </a:tc>
              </a:tr>
              <a:tr h="457628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This is the Answer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This is the Answer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Wednesday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9326034" y="3048001"/>
            <a:ext cx="1223433" cy="3611563"/>
            <a:chOff x="10030695" y="2669726"/>
            <a:chExt cx="1223224" cy="3929873"/>
          </a:xfrm>
        </p:grpSpPr>
        <p:pic>
          <p:nvPicPr>
            <p:cNvPr id="5193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119868" y="4753909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4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120259" y="2580553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5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135248" y="3680656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6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264020" y="560970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914401" y="3048000"/>
            <a:ext cx="800100" cy="3367088"/>
            <a:chOff x="1842150" y="2653259"/>
            <a:chExt cx="801049" cy="3675643"/>
          </a:xfrm>
        </p:grpSpPr>
        <p:pic>
          <p:nvPicPr>
            <p:cNvPr id="5189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1957073" y="265325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0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1884623" y="361511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1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1914600" y="467942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2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1842150" y="564128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2806701" y="3048001"/>
            <a:ext cx="1115484" cy="3311525"/>
            <a:chOff x="3766629" y="2955561"/>
            <a:chExt cx="1113972" cy="3644039"/>
          </a:xfrm>
        </p:grpSpPr>
        <p:pic>
          <p:nvPicPr>
            <p:cNvPr id="5185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4083813" y="3943532"/>
              <a:ext cx="686126" cy="630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6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4058194" y="2955561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7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4015721" y="4981731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8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3890702" y="5609701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5080000" y="3048001"/>
            <a:ext cx="1162051" cy="3425825"/>
            <a:chOff x="5802793" y="2763187"/>
            <a:chExt cx="1161441" cy="3578989"/>
          </a:xfrm>
        </p:grpSpPr>
        <p:pic>
          <p:nvPicPr>
            <p:cNvPr id="5181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926866" y="5352277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2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6005053" y="3751158"/>
              <a:ext cx="686126" cy="630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3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5979434" y="2763187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4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5974335" y="4530317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50"/>
          <p:cNvGrpSpPr>
            <a:grpSpLocks/>
          </p:cNvGrpSpPr>
          <p:nvPr/>
        </p:nvGrpSpPr>
        <p:grpSpPr bwMode="auto">
          <a:xfrm>
            <a:off x="7721601" y="3048001"/>
            <a:ext cx="1172633" cy="3362325"/>
            <a:chOff x="8159136" y="2850629"/>
            <a:chExt cx="1173543" cy="3667255"/>
          </a:xfrm>
        </p:grpSpPr>
        <p:pic>
          <p:nvPicPr>
            <p:cNvPr id="5177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8283211" y="362837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78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8283209" y="2726556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79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8304948" y="5881569"/>
              <a:ext cx="686126" cy="636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0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8342780" y="4665228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3" name="TextBox 32"/>
          <p:cNvSpPr txBox="1"/>
          <p:nvPr/>
        </p:nvSpPr>
        <p:spPr>
          <a:xfrm rot="20631211">
            <a:off x="3803188" y="2553772"/>
            <a:ext cx="4168642" cy="369332"/>
          </a:xfrm>
          <a:prstGeom prst="rect">
            <a:avLst/>
          </a:prstGeom>
          <a:solidFill>
            <a:srgbClr val="00B050">
              <a:alpha val="44000"/>
            </a:srgbClr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Should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Awo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Tyroneye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’ fix my cars brakes?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repeatCount="indefinite" accel="50000" decel="50000" autoRev="1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3000" fill="hold"/>
                                        <p:tgtEl>
                                          <p:spTgt spid="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20April2025- Sunday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1885" y="6356351"/>
            <a:ext cx="3481916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Supported by </a:t>
            </a:r>
            <a:r>
              <a:rPr lang="en-US" dirty="0" err="1"/>
              <a:t>Sekert</a:t>
            </a:r>
            <a:r>
              <a:rPr lang="en-US" dirty="0"/>
              <a:t>(+) </a:t>
            </a:r>
            <a:r>
              <a:rPr lang="en-US" dirty="0" err="1"/>
              <a:t>Ogunda</a:t>
            </a:r>
            <a:r>
              <a:rPr lang="en-US" dirty="0"/>
              <a:t> </a:t>
            </a:r>
            <a:fld id="{C4212CB6-8FA6-4D6F-83ED-D8D06190A9D2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148" name="TextBox 6"/>
          <p:cNvSpPr txBox="1">
            <a:spLocks noChangeArrowheads="1"/>
          </p:cNvSpPr>
          <p:nvPr/>
        </p:nvSpPr>
        <p:spPr bwMode="auto">
          <a:xfrm>
            <a:off x="209552" y="1"/>
            <a:ext cx="11739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3/4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SwamiG 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pic>
        <p:nvPicPr>
          <p:cNvPr id="6150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1251" y="5949951"/>
            <a:ext cx="531283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2685" y="628650"/>
            <a:ext cx="1113367" cy="6027738"/>
            <a:chOff x="302079" y="629064"/>
            <a:chExt cx="1114363" cy="6027324"/>
          </a:xfrm>
        </p:grpSpPr>
        <p:pic>
          <p:nvPicPr>
            <p:cNvPr id="6170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8474" y="542881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71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8865" y="2313396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72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8864" y="408373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73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518017" y="629064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951568" y="457200"/>
            <a:ext cx="1234017" cy="6153150"/>
            <a:chOff x="1951955" y="457133"/>
            <a:chExt cx="1233633" cy="6152875"/>
          </a:xfrm>
        </p:grpSpPr>
        <p:pic>
          <p:nvPicPr>
            <p:cNvPr id="6166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38350" y="538243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7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958011" y="570738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8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838740" y="403735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9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2075127" y="2451242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736417" y="803276"/>
            <a:ext cx="1115483" cy="5853113"/>
            <a:chOff x="7736516" y="803447"/>
            <a:chExt cx="1114363" cy="5853525"/>
          </a:xfrm>
        </p:grpSpPr>
        <p:pic>
          <p:nvPicPr>
            <p:cNvPr id="6162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622911" y="5429396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3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623302" y="2313980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4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7623300" y="917052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5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7912698" y="3942692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10454218" y="769938"/>
            <a:ext cx="1435100" cy="5721350"/>
            <a:chOff x="10453614" y="769714"/>
            <a:chExt cx="1435917" cy="5721817"/>
          </a:xfrm>
        </p:grpSpPr>
        <p:pic>
          <p:nvPicPr>
            <p:cNvPr id="6158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661954" y="883319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9" name="Picture 11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340010" y="2485677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0" name="Picture 10" descr="cowry_female_Ipori_ib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-2960499">
              <a:off x="10340009" y="4256020"/>
              <a:ext cx="1341181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1" name="Picture 12" descr="cowry_male_ipori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 rot="1758560">
              <a:off x="10722171" y="5505866"/>
              <a:ext cx="686126" cy="985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492501" y="6070600"/>
            <a:ext cx="185843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1">
                <a:solidFill>
                  <a:srgbClr val="FF0000"/>
                </a:solidFill>
                <a:latin typeface="Calibri" pitchFamily="34" charset="0"/>
              </a:rPr>
              <a:t>Okana</a:t>
            </a:r>
            <a:endParaRPr lang="en-US" sz="3200" b="1" i="1">
              <a:latin typeface="Calibri" pitchFamily="34" charset="0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6688667" y="6048375"/>
            <a:ext cx="178011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1">
                <a:solidFill>
                  <a:srgbClr val="FF0000"/>
                </a:solidFill>
                <a:latin typeface="Calibri" pitchFamily="34" charset="0"/>
              </a:rPr>
              <a:t>Okana</a:t>
            </a:r>
            <a:endParaRPr lang="en-US" sz="3200" b="1" i="1">
              <a:latin typeface="Calibri" pitchFamily="34" charset="0"/>
            </a:endParaRPr>
          </a:p>
        </p:txBody>
      </p:sp>
      <p:sp>
        <p:nvSpPr>
          <p:cNvPr id="6157" name="TextBox 31"/>
          <p:cNvSpPr txBox="1">
            <a:spLocks noChangeArrowheads="1"/>
          </p:cNvSpPr>
          <p:nvPr/>
        </p:nvSpPr>
        <p:spPr bwMode="auto">
          <a:xfrm>
            <a:off x="2844800" y="914400"/>
            <a:ext cx="6604000" cy="2554288"/>
          </a:xfrm>
          <a:prstGeom prst="rect">
            <a:avLst/>
          </a:prstGeom>
          <a:solidFill>
            <a:srgbClr val="FFFF00">
              <a:alpha val="39999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 b="1">
                <a:latin typeface="Calibri" pitchFamily="34" charset="0"/>
              </a:rPr>
              <a:t>Questions/ Comments</a:t>
            </a:r>
            <a:endParaRPr lang="en-US" b="1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6000" y="381000"/>
            <a:ext cx="9956800" cy="60023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Last Session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Wednesday April 23, 2025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1230pm Central time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130pm   Eastern Time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Agenda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rgbClr val="00B050"/>
              </a:solidFill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OYEKU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rgbClr val="00B050"/>
              </a:solidFill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Sample castings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SwamiG 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19April2025- Wednesday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42317" cy="365125"/>
          </a:xfrm>
        </p:spPr>
        <p:txBody>
          <a:bodyPr/>
          <a:lstStyle/>
          <a:p>
            <a:pPr>
              <a:defRPr/>
            </a:pPr>
            <a:r>
              <a:rPr lang="en-US"/>
              <a:t>SwamiG Institute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23BE7F-0FBB-439A-A7C5-4CEBF6BE8570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09552" y="1"/>
            <a:ext cx="11739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                                  Four Cowrie Divination Zoom Session Agenda                                              3/4</a:t>
            </a:r>
          </a:p>
        </p:txBody>
      </p:sp>
      <p:pic>
        <p:nvPicPr>
          <p:cNvPr id="2054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1" y="6189663"/>
            <a:ext cx="531284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39384" y="184150"/>
            <a:ext cx="7217617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11500">
                <a:latin typeface="Calibri" pitchFamily="34" charset="0"/>
              </a:rPr>
              <a:t>Ilekes 2025 </a:t>
            </a:r>
            <a:endParaRPr lang="en-US" altLang="en-US" sz="8000">
              <a:latin typeface="Calibri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0134" y="2419350"/>
            <a:ext cx="9128846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4400">
                <a:solidFill>
                  <a:srgbClr val="FF0000"/>
                </a:solidFill>
                <a:latin typeface="Calibri" pitchFamily="34" charset="0"/>
              </a:rPr>
              <a:t>Four</a:t>
            </a:r>
            <a:r>
              <a:rPr lang="en-US" altLang="en-US" sz="4400">
                <a:latin typeface="Calibri" pitchFamily="34" charset="0"/>
              </a:rPr>
              <a:t> Cowrie Divination Session Agenda</a:t>
            </a:r>
            <a:endParaRPr lang="en-US" altLang="en-US" sz="4800">
              <a:latin typeface="Calibri" pitchFamily="34" charset="0"/>
            </a:endParaRPr>
          </a:p>
          <a:p>
            <a:pPr eaLnBrk="0" hangingPunct="0"/>
            <a:r>
              <a:rPr lang="en-US" altLang="en-US" sz="4400">
                <a:latin typeface="Calibri" pitchFamily="34" charset="0"/>
              </a:rPr>
              <a:t>All sessions @ 130pm-230 est</a:t>
            </a:r>
          </a:p>
          <a:p>
            <a:pPr eaLnBrk="0" hangingPunct="0"/>
            <a:endParaRPr lang="en-US" altLang="en-US" sz="4400">
              <a:latin typeface="Calibri" pitchFamily="34" charset="0"/>
            </a:endParaRPr>
          </a:p>
          <a:p>
            <a:pPr eaLnBrk="0" hangingPunct="0"/>
            <a:endParaRPr lang="en-US" altLang="en-US" sz="4400">
              <a:latin typeface="Calibri" pitchFamily="34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86885" y="4097338"/>
            <a:ext cx="9834033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5400">
                <a:latin typeface="Calibri" pitchFamily="34" charset="0"/>
              </a:rPr>
              <a:t>Wed—</a:t>
            </a:r>
            <a:r>
              <a:rPr lang="en-US" altLang="en-US" sz="6600">
                <a:latin typeface="Calibri" pitchFamily="34" charset="0"/>
              </a:rPr>
              <a:t>Sat</a:t>
            </a:r>
            <a:r>
              <a:rPr lang="en-US" altLang="en-US" sz="5400">
                <a:latin typeface="Calibri" pitchFamily="34" charset="0"/>
              </a:rPr>
              <a:t>—</a:t>
            </a:r>
            <a:r>
              <a:rPr lang="en-US" altLang="en-US" sz="5400" b="1">
                <a:solidFill>
                  <a:srgbClr val="FF0000"/>
                </a:solidFill>
                <a:latin typeface="Calibri" pitchFamily="34" charset="0"/>
              </a:rPr>
              <a:t>Sun</a:t>
            </a:r>
            <a:r>
              <a:rPr lang="en-US" altLang="en-US" sz="5400">
                <a:latin typeface="Calibri" pitchFamily="34" charset="0"/>
              </a:rPr>
              <a:t>--Wed</a:t>
            </a:r>
          </a:p>
          <a:p>
            <a:r>
              <a:rPr lang="en-US" sz="5400">
                <a:latin typeface="Calibri" pitchFamily="34" charset="0"/>
              </a:rPr>
              <a:t>    1         </a:t>
            </a:r>
            <a:r>
              <a:rPr lang="en-US" sz="7200">
                <a:latin typeface="Calibri" pitchFamily="34" charset="0"/>
              </a:rPr>
              <a:t>2</a:t>
            </a:r>
            <a:r>
              <a:rPr lang="en-US" sz="5400">
                <a:latin typeface="Calibri" pitchFamily="34" charset="0"/>
              </a:rPr>
              <a:t>          </a:t>
            </a:r>
            <a:r>
              <a:rPr lang="en-US" sz="5400" b="1">
                <a:solidFill>
                  <a:srgbClr val="FF0000"/>
                </a:solidFill>
                <a:latin typeface="Calibri" pitchFamily="34" charset="0"/>
              </a:rPr>
              <a:t>3</a:t>
            </a:r>
            <a:r>
              <a:rPr lang="en-US" sz="5400">
                <a:latin typeface="Calibri" pitchFamily="34" charset="0"/>
              </a:rPr>
              <a:t>         4</a:t>
            </a:r>
            <a:endParaRPr lang="en-US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20305335">
            <a:off x="1104787" y="3009792"/>
            <a:ext cx="9364358" cy="646331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Should Uncle </a:t>
            </a:r>
            <a:r>
              <a:rPr lang="en-US" sz="36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Awo</a:t>
            </a:r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36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Tyroneye</a:t>
            </a:r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cs typeface="+mn-cs"/>
              </a:rPr>
              <a:t>’ fix my cars brakes?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0" grpId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Only certain questions please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1800" b="1" smtClean="0">
                <a:solidFill>
                  <a:srgbClr val="000000"/>
                </a:solidFill>
                <a:latin typeface="Arial" charset="0"/>
              </a:rPr>
              <a:t>Questions</a:t>
            </a:r>
          </a:p>
          <a:p>
            <a:pPr eaLnBrk="1" hangingPunct="1"/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Only certain types of questions are encouraged. Limit questions to those that require a yes or a no response. Avoid the following:</a:t>
            </a:r>
            <a:endParaRPr lang="en-US" smtClean="0"/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 </a:t>
            </a:r>
            <a:endParaRPr lang="en-US" smtClean="0"/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Questions that have answers already known</a:t>
            </a:r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Questions that harm the environment</a:t>
            </a:r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Questions that harm others</a:t>
            </a:r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Questions already asked</a:t>
            </a:r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Questions deemed illegal or immoral </a:t>
            </a:r>
          </a:p>
          <a:p>
            <a:pPr eaLnBrk="1" hangingPunct="1"/>
            <a:r>
              <a:rPr lang="en-US" sz="1800" smtClean="0">
                <a:solidFill>
                  <a:srgbClr val="000000"/>
                </a:solidFill>
                <a:latin typeface="Arial" charset="0"/>
              </a:rPr>
              <a:t>Questions that harm the questioner.</a:t>
            </a:r>
          </a:p>
          <a:p>
            <a:pPr eaLnBrk="1" hangingPunct="1"/>
            <a:r>
              <a:rPr lang="en-US" smtClean="0"/>
              <a:t/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3768" y="428625"/>
            <a:ext cx="10469033" cy="60007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Last Session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Wednesday April 23, 2025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1230pm Central time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130pm   Eastern Time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Agenda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rgbClr val="00B050"/>
              </a:solidFill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OYEKU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rgbClr val="00B050"/>
              </a:solidFill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Sample castings</a:t>
            </a:r>
          </a:p>
        </p:txBody>
      </p:sp>
      <p:sp>
        <p:nvSpPr>
          <p:cNvPr id="4099" name="TextBox 6"/>
          <p:cNvSpPr txBox="1">
            <a:spLocks noChangeArrowheads="1"/>
          </p:cNvSpPr>
          <p:nvPr/>
        </p:nvSpPr>
        <p:spPr bwMode="auto">
          <a:xfrm>
            <a:off x="209552" y="0"/>
            <a:ext cx="117390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Four Cowrie Divination Zoom Session Agenda                                          4/4</a:t>
            </a:r>
          </a:p>
        </p:txBody>
      </p:sp>
      <p:sp>
        <p:nvSpPr>
          <p:cNvPr id="8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209551" y="6048376"/>
            <a:ext cx="2817283" cy="709613"/>
          </a:xfrm>
        </p:spPr>
        <p:txBody>
          <a:bodyPr/>
          <a:lstStyle/>
          <a:p>
            <a:pPr>
              <a:defRPr/>
            </a:pPr>
            <a:r>
              <a:rPr lang="en-US" dirty="0"/>
              <a:t>SwamiG 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251" y="5949951"/>
            <a:ext cx="531283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TextBox 6"/>
          <p:cNvSpPr txBox="1">
            <a:spLocks noChangeArrowheads="1"/>
          </p:cNvSpPr>
          <p:nvPr/>
        </p:nvSpPr>
        <p:spPr bwMode="auto">
          <a:xfrm>
            <a:off x="209552" y="0"/>
            <a:ext cx="117390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Four Cowrie Divination Zoom Session Agenda                                          4/4</a:t>
            </a:r>
          </a:p>
        </p:txBody>
      </p:sp>
      <p:sp>
        <p:nvSpPr>
          <p:cNvPr id="9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SwamiG 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sp>
        <p:nvSpPr>
          <p:cNvPr id="5125" name="Footer Placeholder 4"/>
          <p:cNvSpPr txBox="1">
            <a:spLocks/>
          </p:cNvSpPr>
          <p:nvPr/>
        </p:nvSpPr>
        <p:spPr bwMode="auto">
          <a:xfrm flipV="1">
            <a:off x="209551" y="6048376"/>
            <a:ext cx="2817283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rgbClr val="898989"/>
                </a:solidFill>
                <a:latin typeface="Calibri" pitchFamily="34" charset="0"/>
              </a:rPr>
              <a:t>SwamiG Institute ©                                                                           $DrSwamiG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117" y="433388"/>
          <a:ext cx="10583057" cy="228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471">
                  <a:extLst>
                    <a:ext uri="{9D8B030D-6E8A-4147-A177-3AD203B41FA5}"/>
                  </a:extLst>
                </a:gridCol>
                <a:gridCol w="2116611">
                  <a:extLst>
                    <a:ext uri="{9D8B030D-6E8A-4147-A177-3AD203B41FA5}"/>
                  </a:extLst>
                </a:gridCol>
                <a:gridCol w="2320433">
                  <a:extLst>
                    <a:ext uri="{9D8B030D-6E8A-4147-A177-3AD203B41FA5}"/>
                  </a:extLst>
                </a:gridCol>
                <a:gridCol w="2081771">
                  <a:extLst>
                    <a:ext uri="{9D8B030D-6E8A-4147-A177-3AD203B41FA5}"/>
                  </a:extLst>
                </a:gridCol>
                <a:gridCol w="2081771">
                  <a:extLst>
                    <a:ext uri="{9D8B030D-6E8A-4147-A177-3AD203B41FA5}"/>
                  </a:extLst>
                </a:gridCol>
              </a:tblGrid>
              <a:tr h="261502">
                <a:tc>
                  <a:txBody>
                    <a:bodyPr/>
                    <a:lstStyle/>
                    <a:p>
                      <a:r>
                        <a:rPr lang="en-US" sz="1400" dirty="0"/>
                        <a:t>4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 Up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261502">
                <a:tc>
                  <a:txBody>
                    <a:bodyPr/>
                    <a:lstStyle/>
                    <a:p>
                      <a:r>
                        <a:rPr lang="en-US" sz="1400" b="1" dirty="0"/>
                        <a:t>Alafia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Etawa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Ejife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Okana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Wednesday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261502">
                <a:tc>
                  <a:txBody>
                    <a:bodyPr/>
                    <a:lstStyle/>
                    <a:p>
                      <a:r>
                        <a:rPr lang="en-US" sz="1400" i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Probably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Definitely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Doubt-No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Wednesday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457628">
                <a:tc>
                  <a:txBody>
                    <a:bodyPr/>
                    <a:lstStyle/>
                    <a:p>
                      <a:r>
                        <a:rPr lang="en-US" sz="1400" dirty="0"/>
                        <a:t>With a blessing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>
                          <a:solidFill>
                            <a:srgbClr val="FF0000"/>
                          </a:solidFill>
                        </a:rPr>
                        <a:t>Rephrase</a:t>
                      </a:r>
                    </a:p>
                    <a:p>
                      <a:r>
                        <a:rPr lang="en-US" sz="1400" b="1" i="1" dirty="0">
                          <a:solidFill>
                            <a:srgbClr val="FF0000"/>
                          </a:solidFill>
                        </a:rPr>
                        <a:t>Cast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Wisdom</a:t>
                      </a:r>
                      <a:r>
                        <a:rPr lang="en-US" sz="1400" baseline="0" dirty="0"/>
                        <a:t> after lessons</a:t>
                      </a:r>
                      <a:endParaRPr 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>
                          <a:solidFill>
                            <a:srgbClr val="FF0000"/>
                          </a:solidFill>
                        </a:rPr>
                        <a:t>Rephrase</a:t>
                      </a:r>
                    </a:p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Cast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Wednesday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457628"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Wednesday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457628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Wednesday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</a:tbl>
          </a:graphicData>
        </a:graphic>
      </p:graphicFrame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9326034" y="3048001"/>
            <a:ext cx="1223433" cy="3611563"/>
            <a:chOff x="10030695" y="2669726"/>
            <a:chExt cx="1223224" cy="3929873"/>
          </a:xfrm>
        </p:grpSpPr>
        <p:pic>
          <p:nvPicPr>
            <p:cNvPr id="5191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19868" y="4753909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2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20259" y="2580553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3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35248" y="3680656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4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264020" y="560970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914401" y="3048000"/>
            <a:ext cx="800100" cy="3367088"/>
            <a:chOff x="1842150" y="2653259"/>
            <a:chExt cx="801049" cy="3675643"/>
          </a:xfrm>
        </p:grpSpPr>
        <p:pic>
          <p:nvPicPr>
            <p:cNvPr id="5187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957073" y="265325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8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884623" y="361511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9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914600" y="467942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90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842150" y="564128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806701" y="3048001"/>
            <a:ext cx="1115484" cy="3311525"/>
            <a:chOff x="3766629" y="2955561"/>
            <a:chExt cx="1113972" cy="3644039"/>
          </a:xfrm>
        </p:grpSpPr>
        <p:pic>
          <p:nvPicPr>
            <p:cNvPr id="5183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4083813" y="3943532"/>
              <a:ext cx="686126" cy="630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4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4058194" y="2955561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5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4015721" y="4981731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6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3890702" y="5609701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5080000" y="3048001"/>
            <a:ext cx="1162051" cy="3425825"/>
            <a:chOff x="5802793" y="2763187"/>
            <a:chExt cx="1161441" cy="3578989"/>
          </a:xfrm>
        </p:grpSpPr>
        <p:pic>
          <p:nvPicPr>
            <p:cNvPr id="5179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5926866" y="5352277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0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6005053" y="3751158"/>
              <a:ext cx="686126" cy="630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1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5979434" y="2763187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82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5974335" y="4530317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7721601" y="3048001"/>
            <a:ext cx="1172633" cy="3362325"/>
            <a:chOff x="8159136" y="2850629"/>
            <a:chExt cx="1173543" cy="3667255"/>
          </a:xfrm>
        </p:grpSpPr>
        <p:pic>
          <p:nvPicPr>
            <p:cNvPr id="5175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8283211" y="362837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76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8283209" y="2726556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77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8304948" y="5881569"/>
              <a:ext cx="686126" cy="636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78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8342780" y="4665228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251" y="5949951"/>
            <a:ext cx="35136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TextBox 6"/>
          <p:cNvSpPr txBox="1">
            <a:spLocks noChangeArrowheads="1"/>
          </p:cNvSpPr>
          <p:nvPr/>
        </p:nvSpPr>
        <p:spPr bwMode="auto">
          <a:xfrm>
            <a:off x="209552" y="0"/>
            <a:ext cx="117390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Four Cowrie Divination Zoom Session Agenda                                          4/4</a:t>
            </a:r>
          </a:p>
        </p:txBody>
      </p:sp>
      <p:sp>
        <p:nvSpPr>
          <p:cNvPr id="9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209551" y="6048376"/>
            <a:ext cx="2817283" cy="709613"/>
          </a:xfrm>
        </p:spPr>
        <p:txBody>
          <a:bodyPr/>
          <a:lstStyle/>
          <a:p>
            <a:pPr>
              <a:defRPr/>
            </a:pPr>
            <a:r>
              <a:rPr lang="en-US" dirty="0"/>
              <a:t>SwamiG 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609600" y="914400"/>
            <a:ext cx="2438400" cy="5486400"/>
            <a:chOff x="10030695" y="2669726"/>
            <a:chExt cx="1223224" cy="3929873"/>
          </a:xfrm>
        </p:grpSpPr>
        <p:pic>
          <p:nvPicPr>
            <p:cNvPr id="6153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19868" y="4753909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4" name="Picture 9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20259" y="2580553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5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35248" y="3680656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6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264020" y="560970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251200" y="914401"/>
            <a:ext cx="7112000" cy="92392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5400" b="1"/>
              <a:t>All four Down</a:t>
            </a:r>
            <a:endParaRPr 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235200" y="2209800"/>
            <a:ext cx="9144000" cy="255454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0"/>
              <a:t>Nope…… Change the topic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 rot="-1544834">
            <a:off x="8467" y="1355726"/>
            <a:ext cx="12090400" cy="315436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9900"/>
              <a:t>Oyeku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3"/>
          <p:cNvSpPr txBox="1">
            <a:spLocks noChangeArrowheads="1"/>
          </p:cNvSpPr>
          <p:nvPr/>
        </p:nvSpPr>
        <p:spPr bwMode="auto">
          <a:xfrm rot="-1460499">
            <a:off x="2262357" y="1700381"/>
            <a:ext cx="6526402" cy="347787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/>
              <a:t>No Rephrase, No Follow up</a:t>
            </a:r>
          </a:p>
          <a:p>
            <a:endParaRPr lang="en-US" sz="4400" b="1"/>
          </a:p>
          <a:p>
            <a:r>
              <a:rPr lang="en-US" sz="4400" b="1"/>
              <a:t>Cleanse the implements</a:t>
            </a:r>
          </a:p>
          <a:p>
            <a:endParaRPr lang="en-US" sz="4400" b="1"/>
          </a:p>
          <a:p>
            <a:r>
              <a:rPr lang="en-US" sz="4400" b="1"/>
              <a:t>Change the topic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4"/>
          <p:cNvSpPr txBox="1">
            <a:spLocks noChangeArrowheads="1"/>
          </p:cNvSpPr>
          <p:nvPr/>
        </p:nvSpPr>
        <p:spPr bwMode="auto">
          <a:xfrm>
            <a:off x="209552" y="0"/>
            <a:ext cx="117390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Ilekes 2025             Four Cowrie Divination Zoom Session Agenda                                          4/4</a:t>
            </a:r>
          </a:p>
        </p:txBody>
      </p:sp>
      <p:sp>
        <p:nvSpPr>
          <p:cNvPr id="7" name="Footer Placeholder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209551" y="6048376"/>
            <a:ext cx="2817283" cy="709613"/>
          </a:xfrm>
        </p:spPr>
        <p:txBody>
          <a:bodyPr/>
          <a:lstStyle/>
          <a:p>
            <a:pPr>
              <a:defRPr/>
            </a:pPr>
            <a:r>
              <a:rPr lang="en-US" dirty="0"/>
              <a:t>SwamiG Institute ©                                                                           $</a:t>
            </a:r>
            <a:r>
              <a:rPr lang="en-US" dirty="0" err="1"/>
              <a:t>DrSwamiG</a:t>
            </a:r>
            <a:endParaRPr lang="en-US" dirty="0"/>
          </a:p>
        </p:txBody>
      </p:sp>
      <p:pic>
        <p:nvPicPr>
          <p:cNvPr id="8196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251" y="5949951"/>
            <a:ext cx="35136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0117" y="433388"/>
          <a:ext cx="10583057" cy="2348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471">
                  <a:extLst>
                    <a:ext uri="{9D8B030D-6E8A-4147-A177-3AD203B41FA5}"/>
                  </a:extLst>
                </a:gridCol>
                <a:gridCol w="2116611">
                  <a:extLst>
                    <a:ext uri="{9D8B030D-6E8A-4147-A177-3AD203B41FA5}"/>
                  </a:extLst>
                </a:gridCol>
                <a:gridCol w="2320433">
                  <a:extLst>
                    <a:ext uri="{9D8B030D-6E8A-4147-A177-3AD203B41FA5}"/>
                  </a:extLst>
                </a:gridCol>
                <a:gridCol w="2081771">
                  <a:extLst>
                    <a:ext uri="{9D8B030D-6E8A-4147-A177-3AD203B41FA5}"/>
                  </a:extLst>
                </a:gridCol>
                <a:gridCol w="2081771">
                  <a:extLst>
                    <a:ext uri="{9D8B030D-6E8A-4147-A177-3AD203B41FA5}"/>
                  </a:extLst>
                </a:gridCol>
              </a:tblGrid>
              <a:tr h="261502">
                <a:tc>
                  <a:txBody>
                    <a:bodyPr/>
                    <a:lstStyle/>
                    <a:p>
                      <a:r>
                        <a:rPr lang="en-US" sz="1400" dirty="0"/>
                        <a:t>4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 Up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261502">
                <a:tc>
                  <a:txBody>
                    <a:bodyPr/>
                    <a:lstStyle/>
                    <a:p>
                      <a:r>
                        <a:rPr lang="en-US" sz="1400" b="1" dirty="0"/>
                        <a:t>Alafia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Etawa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Ejife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Okana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 smtClean="0"/>
                        <a:t>Okana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261502">
                <a:tc>
                  <a:txBody>
                    <a:bodyPr/>
                    <a:lstStyle/>
                    <a:p>
                      <a:r>
                        <a:rPr lang="en-US" sz="1400" i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Probably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Definitely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Doubt-No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1" dirty="0" smtClean="0">
                          <a:solidFill>
                            <a:srgbClr val="FF0000"/>
                          </a:solidFill>
                        </a:rPr>
                        <a:t>NOPE</a:t>
                      </a:r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457628">
                <a:tc>
                  <a:txBody>
                    <a:bodyPr/>
                    <a:lstStyle/>
                    <a:p>
                      <a:r>
                        <a:rPr lang="en-US" sz="1400" dirty="0"/>
                        <a:t>With a blessing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>
                          <a:solidFill>
                            <a:srgbClr val="FF0000"/>
                          </a:solidFill>
                        </a:rPr>
                        <a:t>Rephrase</a:t>
                      </a:r>
                    </a:p>
                    <a:p>
                      <a:r>
                        <a:rPr lang="en-US" sz="1400" b="1" i="1" dirty="0">
                          <a:solidFill>
                            <a:srgbClr val="FF0000"/>
                          </a:solidFill>
                        </a:rPr>
                        <a:t>Cast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Wisdom</a:t>
                      </a:r>
                      <a:r>
                        <a:rPr lang="en-US" sz="1400" baseline="0" dirty="0"/>
                        <a:t> after lessons</a:t>
                      </a:r>
                      <a:endParaRPr 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>
                          <a:solidFill>
                            <a:srgbClr val="FF0000"/>
                          </a:solidFill>
                        </a:rPr>
                        <a:t>Rephrase</a:t>
                      </a:r>
                    </a:p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Cast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ChangeTopic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457628"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If</a:t>
                      </a:r>
                      <a:r>
                        <a:rPr lang="en-US" sz="1400" baseline="0" dirty="0" smtClean="0"/>
                        <a:t> twice- Call </a:t>
                      </a:r>
                      <a:r>
                        <a:rPr lang="en-US" sz="1400" baseline="0" dirty="0" err="1" smtClean="0"/>
                        <a:t>Iya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457628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is the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Call</a:t>
                      </a:r>
                      <a:r>
                        <a:rPr lang="en-US" sz="1400" baseline="0" dirty="0" smtClean="0"/>
                        <a:t> Baba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/>
                </a:extLst>
              </a:tr>
            </a:tbl>
          </a:graphicData>
        </a:graphic>
      </p:graphicFrame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9326034" y="3048001"/>
            <a:ext cx="1223433" cy="3611563"/>
            <a:chOff x="10030695" y="2669726"/>
            <a:chExt cx="1223224" cy="3929873"/>
          </a:xfrm>
        </p:grpSpPr>
        <p:pic>
          <p:nvPicPr>
            <p:cNvPr id="8262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19868" y="4753909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63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20259" y="2580553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64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135248" y="3680656"/>
              <a:ext cx="9356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65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10264020" y="560970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914401" y="3048000"/>
            <a:ext cx="800100" cy="3367088"/>
            <a:chOff x="1842150" y="2653259"/>
            <a:chExt cx="801049" cy="3675643"/>
          </a:xfrm>
        </p:grpSpPr>
        <p:pic>
          <p:nvPicPr>
            <p:cNvPr id="8258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957073" y="265325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9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884623" y="361511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60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914600" y="467942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61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1842150" y="5641289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806701" y="3048001"/>
            <a:ext cx="1115484" cy="3311525"/>
            <a:chOff x="3766629" y="2955561"/>
            <a:chExt cx="1113972" cy="3644039"/>
          </a:xfrm>
        </p:grpSpPr>
        <p:pic>
          <p:nvPicPr>
            <p:cNvPr id="8254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4083813" y="3943532"/>
              <a:ext cx="686126" cy="630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5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4058194" y="2955561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6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4015721" y="4981731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7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3890702" y="5609701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5080000" y="3048001"/>
            <a:ext cx="1162051" cy="3425825"/>
            <a:chOff x="5802793" y="2763187"/>
            <a:chExt cx="1161441" cy="3578989"/>
          </a:xfrm>
        </p:grpSpPr>
        <p:pic>
          <p:nvPicPr>
            <p:cNvPr id="8250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5926866" y="5352277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1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6005053" y="3751158"/>
              <a:ext cx="686126" cy="630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2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5979434" y="2763187"/>
              <a:ext cx="686126" cy="687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53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5974335" y="4530317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7721601" y="3048001"/>
            <a:ext cx="1172633" cy="3362325"/>
            <a:chOff x="8159136" y="2850629"/>
            <a:chExt cx="1173543" cy="3667255"/>
          </a:xfrm>
        </p:grpSpPr>
        <p:pic>
          <p:nvPicPr>
            <p:cNvPr id="8246" name="Picture 11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8283211" y="3628370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47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8283209" y="2726556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48" name="Picture 12" descr="cowry_male_ipori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1758560">
              <a:off x="8304948" y="5881569"/>
              <a:ext cx="686126" cy="636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49" name="Picture 10" descr="cowry_female_Ipori_ibi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2960499">
              <a:off x="8342780" y="4665228"/>
              <a:ext cx="865826" cy="111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1288</Words>
  <Application>Microsoft Office PowerPoint</Application>
  <PresentationFormat>Custom</PresentationFormat>
  <Paragraphs>445</Paragraphs>
  <Slides>35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Only certain questions please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Swami G</dc:creator>
  <cp:lastModifiedBy>SwamiG Institute</cp:lastModifiedBy>
  <cp:revision>43</cp:revision>
  <dcterms:created xsi:type="dcterms:W3CDTF">2025-04-16T04:31:42Z</dcterms:created>
  <dcterms:modified xsi:type="dcterms:W3CDTF">2025-12-08T16:04:38Z</dcterms:modified>
</cp:coreProperties>
</file>